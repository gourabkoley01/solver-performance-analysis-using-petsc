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7" r:id="rId5"/>
    <p:sldId id="275" r:id="rId6"/>
    <p:sldId id="276" r:id="rId7"/>
    <p:sldId id="277" r:id="rId8"/>
    <p:sldId id="278" r:id="rId9"/>
    <p:sldId id="274" r:id="rId10"/>
    <p:sldId id="260" r:id="rId11"/>
    <p:sldId id="261" r:id="rId12"/>
    <p:sldId id="262" r:id="rId13"/>
    <p:sldId id="279" r:id="rId14"/>
    <p:sldId id="280" r:id="rId15"/>
    <p:sldId id="281" r:id="rId16"/>
    <p:sldId id="263" r:id="rId17"/>
    <p:sldId id="268" r:id="rId18"/>
    <p:sldId id="269" r:id="rId19"/>
    <p:sldId id="270" r:id="rId20"/>
    <p:sldId id="271" r:id="rId21"/>
    <p:sldId id="272" r:id="rId22"/>
    <p:sldId id="273" r:id="rId23"/>
    <p:sldId id="282" r:id="rId24"/>
    <p:sldId id="283" r:id="rId25"/>
    <p:sldId id="265" r:id="rId26"/>
    <p:sldId id="26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272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12" Type="http://schemas.openxmlformats.org/officeDocument/2006/relationships/image" Target="../media/image18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7.png"/><Relationship Id="rId5" Type="http://schemas.openxmlformats.org/officeDocument/2006/relationships/image" Target="../media/image9.png"/><Relationship Id="rId10" Type="http://schemas.openxmlformats.org/officeDocument/2006/relationships/image" Target="../media/image15.png"/><Relationship Id="rId4" Type="http://schemas.openxmlformats.org/officeDocument/2006/relationships/image" Target="../media/image130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4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3.xlsx"/><Relationship Id="rId13" Type="http://schemas.openxmlformats.org/officeDocument/2006/relationships/image" Target="../media/image77.emf"/><Relationship Id="rId3" Type="http://schemas.openxmlformats.org/officeDocument/2006/relationships/image" Target="../media/image72.emf"/><Relationship Id="rId7" Type="http://schemas.openxmlformats.org/officeDocument/2006/relationships/image" Target="../media/image74.emf"/><Relationship Id="rId12" Type="http://schemas.openxmlformats.org/officeDocument/2006/relationships/package" Target="../embeddings/Microsoft_Excel_Worksheet5.xlsx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Excel_Worksheet2.xlsx"/><Relationship Id="rId11" Type="http://schemas.openxmlformats.org/officeDocument/2006/relationships/image" Target="../media/image76.emf"/><Relationship Id="rId5" Type="http://schemas.openxmlformats.org/officeDocument/2006/relationships/image" Target="../media/image73.emf"/><Relationship Id="rId10" Type="http://schemas.openxmlformats.org/officeDocument/2006/relationships/package" Target="../embeddings/Microsoft_Excel_Worksheet4.xlsx"/><Relationship Id="rId4" Type="http://schemas.openxmlformats.org/officeDocument/2006/relationships/package" Target="../embeddings/Microsoft_Excel_Worksheet1.xlsx"/><Relationship Id="rId9" Type="http://schemas.openxmlformats.org/officeDocument/2006/relationships/image" Target="../media/image75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IN" dirty="0"/>
              <a:t>Numerical Solution for 1D and 2D Diffusion Equation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Gourab Koley</a:t>
            </a:r>
          </a:p>
          <a:p>
            <a:r>
              <a:rPr lang="en-IN" dirty="0"/>
              <a:t>251010016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98576" y="-191706"/>
            <a:ext cx="10972800" cy="1143000"/>
          </a:xfrm>
        </p:spPr>
        <p:txBody>
          <a:bodyPr>
            <a:normAutofit/>
          </a:bodyPr>
          <a:lstStyle/>
          <a:p>
            <a:r>
              <a:rPr dirty="0"/>
              <a:t>1D Diffusion: Mathematical Formulation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75666-9005-5C65-6B3A-D80EB1741D3C}"/>
              </a:ext>
            </a:extLst>
          </p:cNvPr>
          <p:cNvSpPr txBox="1"/>
          <p:nvPr/>
        </p:nvSpPr>
        <p:spPr>
          <a:xfrm>
            <a:off x="336885" y="951294"/>
            <a:ext cx="6721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Problem statement (solving the 1D diffusion equation)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005B4F-C796-AD44-2375-37BEE84DDEEA}"/>
                  </a:ext>
                </a:extLst>
              </p:cNvPr>
              <p:cNvSpPr txBox="1"/>
              <p:nvPr/>
            </p:nvSpPr>
            <p:spPr>
              <a:xfrm>
                <a:off x="7331242" y="951294"/>
                <a:ext cx="4363454" cy="2268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Given Equation : </a:t>
                </a:r>
              </a:p>
              <a:p>
                <a:r>
                  <a:rPr lang="en-IN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−2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, 0&lt;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IN" sz="2400" dirty="0"/>
              </a:p>
              <a:p>
                <a:r>
                  <a:rPr lang="en-IN" dirty="0"/>
                  <a:t>Where,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400" i="1">
                          <a:latin typeface="Cambria Math" panose="02040503050406030204" pitchFamily="18" charset="0"/>
                        </a:rPr>
                        <m:t> −2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 −4</m:t>
                      </m:r>
                    </m:oMath>
                  </m:oMathPara>
                </a14:m>
                <a:endParaRPr lang="en-IN" sz="2400" dirty="0"/>
              </a:p>
              <a:p>
                <a:r>
                  <a:rPr lang="en-IN" dirty="0"/>
                  <a:t>The exact solution was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005B4F-C796-AD44-2375-37BEE84DD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242" y="951294"/>
                <a:ext cx="4363454" cy="2268826"/>
              </a:xfrm>
              <a:prstGeom prst="rect">
                <a:avLst/>
              </a:prstGeom>
              <a:blipFill>
                <a:blip r:embed="rId2"/>
                <a:stretch>
                  <a:fillRect l="-1538" t="-13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44D06F-960D-16F3-B0C3-CAFEA4190E84}"/>
                  </a:ext>
                </a:extLst>
              </p:cNvPr>
              <p:cNvSpPr txBox="1"/>
              <p:nvPr/>
            </p:nvSpPr>
            <p:spPr>
              <a:xfrm>
                <a:off x="529390" y="1703699"/>
                <a:ext cx="6336632" cy="2136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FFC000"/>
                    </a:solidFill>
                  </a:rPr>
                  <a:t>BOUNDARY CONDITIONS (BCs) </a:t>
                </a:r>
              </a:p>
              <a:p>
                <a:r>
                  <a:rPr lang="en-IN" sz="2000" dirty="0"/>
                  <a:t>Two types 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Dirichlet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IN" sz="2000" dirty="0"/>
                  <a:t> and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I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Neumann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000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=−3 </m:t>
                    </m:r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44D06F-960D-16F3-B0C3-CAFEA4190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90" y="1703699"/>
                <a:ext cx="6336632" cy="2136098"/>
              </a:xfrm>
              <a:prstGeom prst="rect">
                <a:avLst/>
              </a:prstGeom>
              <a:blipFill>
                <a:blip r:embed="rId3"/>
                <a:stretch>
                  <a:fillRect l="-1540" t="-2279" b="-11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4.2.2 Discretization of the Domain">
            <a:extLst>
              <a:ext uri="{FF2B5EF4-FFF2-40B4-BE49-F238E27FC236}">
                <a16:creationId xmlns:a16="http://schemas.microsoft.com/office/drawing/2014/main" id="{1CF7245E-C631-C0F8-7529-7315556BFC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8" r="25777"/>
          <a:stretch/>
        </p:blipFill>
        <p:spPr bwMode="auto">
          <a:xfrm>
            <a:off x="786061" y="3897601"/>
            <a:ext cx="5309937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CA272A9-1D3C-D76F-DBCA-D47647151059}"/>
              </a:ext>
            </a:extLst>
          </p:cNvPr>
          <p:cNvGrpSpPr/>
          <p:nvPr/>
        </p:nvGrpSpPr>
        <p:grpSpPr>
          <a:xfrm>
            <a:off x="208546" y="2871608"/>
            <a:ext cx="994612" cy="2197697"/>
            <a:chOff x="208546" y="2871608"/>
            <a:chExt cx="994612" cy="219769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85B73D0-AF5E-20E8-A70D-DCFE56F593CC}"/>
                </a:ext>
              </a:extLst>
            </p:cNvPr>
            <p:cNvCxnSpPr/>
            <p:nvPr/>
          </p:nvCxnSpPr>
          <p:spPr>
            <a:xfrm>
              <a:off x="208546" y="2871608"/>
              <a:ext cx="0" cy="20704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50971F3-7B50-9CDC-178D-B3121A71704C}"/>
                </a:ext>
              </a:extLst>
            </p:cNvPr>
            <p:cNvCxnSpPr/>
            <p:nvPr/>
          </p:nvCxnSpPr>
          <p:spPr>
            <a:xfrm>
              <a:off x="208546" y="2871608"/>
              <a:ext cx="57751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580332E-B375-85EA-81AE-72A7B555D4CA}"/>
                </a:ext>
              </a:extLst>
            </p:cNvPr>
            <p:cNvCxnSpPr/>
            <p:nvPr/>
          </p:nvCxnSpPr>
          <p:spPr>
            <a:xfrm>
              <a:off x="208546" y="3545305"/>
              <a:ext cx="57751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F5ABB76-7045-877C-587B-4E22EDBD2D2A}"/>
                </a:ext>
              </a:extLst>
            </p:cNvPr>
            <p:cNvCxnSpPr>
              <a:cxnSpLocks/>
            </p:cNvCxnSpPr>
            <p:nvPr/>
          </p:nvCxnSpPr>
          <p:spPr>
            <a:xfrm>
              <a:off x="208546" y="4942092"/>
              <a:ext cx="994612" cy="1272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AF6463F-1962-2C74-38FD-9124C54A28E7}"/>
              </a:ext>
            </a:extLst>
          </p:cNvPr>
          <p:cNvGrpSpPr/>
          <p:nvPr/>
        </p:nvGrpSpPr>
        <p:grpSpPr>
          <a:xfrm>
            <a:off x="3978442" y="2781054"/>
            <a:ext cx="2117556" cy="2149570"/>
            <a:chOff x="3625518" y="2775356"/>
            <a:chExt cx="2117556" cy="2149570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88DDD41-BF77-D14D-F3D8-452BE4FA17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5518" y="2791398"/>
              <a:ext cx="2117556" cy="673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6E8C8B4-E0E9-788A-977D-FC90D2F68CD7}"/>
                </a:ext>
              </a:extLst>
            </p:cNvPr>
            <p:cNvGrpSpPr/>
            <p:nvPr/>
          </p:nvGrpSpPr>
          <p:grpSpPr>
            <a:xfrm>
              <a:off x="3769897" y="2775356"/>
              <a:ext cx="1973177" cy="2149570"/>
              <a:chOff x="3769897" y="2775356"/>
              <a:chExt cx="1973177" cy="214957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DCC3C11B-38FE-475C-32C8-537A1FA127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43074" y="2775356"/>
                <a:ext cx="0" cy="1732475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3C43AE48-E828-254B-3F33-96D3BB5C93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02442" y="4475747"/>
                <a:ext cx="240632" cy="4491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FD7C7A7-01B3-A894-EE14-D60693B8EF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9897" y="3545305"/>
                <a:ext cx="1973177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B502B08B-6A4F-191A-2F11-CA4BBDD5E53D}"/>
              </a:ext>
            </a:extLst>
          </p:cNvPr>
          <p:cNvSpPr txBox="1"/>
          <p:nvPr/>
        </p:nvSpPr>
        <p:spPr>
          <a:xfrm>
            <a:off x="7411992" y="3220120"/>
            <a:ext cx="367364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Solved By: </a:t>
            </a:r>
          </a:p>
          <a:p>
            <a:pPr marL="457200" indent="-457200">
              <a:buAutoNum type="arabicPeriod"/>
            </a:pPr>
            <a:r>
              <a:rPr lang="en-IN" sz="2400" dirty="0"/>
              <a:t>FDM</a:t>
            </a:r>
          </a:p>
          <a:p>
            <a:pPr marL="457200" indent="-457200">
              <a:buAutoNum type="arabicPeriod"/>
            </a:pPr>
            <a:r>
              <a:rPr lang="en-IN" sz="2400" dirty="0"/>
              <a:t>FEM </a:t>
            </a:r>
          </a:p>
          <a:p>
            <a:pPr marL="457200" indent="-457200">
              <a:buAutoNum type="arabicPeriod"/>
            </a:pPr>
            <a:r>
              <a:rPr lang="en-IN" sz="2400" dirty="0"/>
              <a:t>FVM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5ED6F83-7A09-0A3E-1E51-3DDE4BEC548F}"/>
                  </a:ext>
                </a:extLst>
              </p:cNvPr>
              <p:cNvSpPr txBox="1"/>
              <p:nvPr/>
            </p:nvSpPr>
            <p:spPr>
              <a:xfrm>
                <a:off x="6352674" y="2871608"/>
                <a:ext cx="737935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50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150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5ED6F83-7A09-0A3E-1E51-3DDE4BEC5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674" y="2871608"/>
                <a:ext cx="737935" cy="2400657"/>
              </a:xfrm>
              <a:prstGeom prst="rect">
                <a:avLst/>
              </a:prstGeom>
              <a:blipFill>
                <a:blip r:embed="rId5"/>
                <a:stretch>
                  <a:fillRect r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Matrices at an Exposition » Cleve's Corner: Cleve Moler on Mathematics and  Computing - MATLAB &amp; Simulink">
            <a:extLst>
              <a:ext uri="{FF2B5EF4-FFF2-40B4-BE49-F238E27FC236}">
                <a16:creationId xmlns:a16="http://schemas.microsoft.com/office/drawing/2014/main" id="{E4FBCE38-BDCD-E6E7-9791-9F5A9C263C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7499" r="5014" b="11409"/>
          <a:stretch/>
        </p:blipFill>
        <p:spPr bwMode="auto">
          <a:xfrm>
            <a:off x="8730712" y="3939060"/>
            <a:ext cx="2931894" cy="2752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88168" y="-296862"/>
            <a:ext cx="10972800" cy="1143000"/>
          </a:xfrm>
        </p:spPr>
        <p:txBody>
          <a:bodyPr/>
          <a:lstStyle/>
          <a:p>
            <a:r>
              <a:rPr dirty="0"/>
              <a:t>1D Diffusion: Numerical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A0562C-509D-1826-3B3D-DA922410B7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0422" y="846138"/>
                <a:ext cx="6079958" cy="54584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800" dirty="0"/>
                  <a:t>FDM Discretization </a:t>
                </a:r>
              </a:p>
              <a:p>
                <a:pPr marL="0" indent="0">
                  <a:buNone/>
                </a:pPr>
                <a:r>
                  <a:rPr lang="en-IN" sz="2400" dirty="0"/>
                  <a:t>For Dirichlet-Dirichlet Boundary Conditions</a:t>
                </a:r>
                <a:r>
                  <a:rPr lang="en-IN" sz="20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 −2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+1 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−2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b="0" dirty="0"/>
                  <a:t>  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b="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b="0" dirty="0"/>
                  <a:t> </a:t>
                </a:r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r>
                  <a:rPr lang="en-IN" sz="2400" dirty="0"/>
                  <a:t>Rearranging them to be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400" dirty="0"/>
                  <a:t>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A0562C-509D-1826-3B3D-DA922410B7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422" y="846138"/>
                <a:ext cx="6079958" cy="5458409"/>
              </a:xfrm>
              <a:blipFill>
                <a:blip r:embed="rId2"/>
                <a:stretch>
                  <a:fillRect l="-2004" t="-11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BDCFEB71-1C35-04FE-5C4D-B631C50B5BCE}"/>
              </a:ext>
            </a:extLst>
          </p:cNvPr>
          <p:cNvSpPr/>
          <p:nvPr/>
        </p:nvSpPr>
        <p:spPr>
          <a:xfrm>
            <a:off x="1844842" y="2390275"/>
            <a:ext cx="336885" cy="449179"/>
          </a:xfrm>
          <a:prstGeom prst="downArrow">
            <a:avLst>
              <a:gd name="adj1" fmla="val 50000"/>
              <a:gd name="adj2" fmla="val 5133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C62EFD6F-02AD-7476-BA10-1B5BCD4BBC10}"/>
              </a:ext>
            </a:extLst>
          </p:cNvPr>
          <p:cNvSpPr/>
          <p:nvPr/>
        </p:nvSpPr>
        <p:spPr>
          <a:xfrm>
            <a:off x="1844842" y="3898232"/>
            <a:ext cx="336884" cy="44917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446D7B-09F1-40BC-DB12-C1ABC050B448}"/>
                  </a:ext>
                </a:extLst>
              </p:cNvPr>
              <p:cNvSpPr txBox="1"/>
              <p:nvPr/>
            </p:nvSpPr>
            <p:spPr>
              <a:xfrm>
                <a:off x="5330054" y="2438574"/>
                <a:ext cx="6938211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sSup>
                                      <m:sSup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2+2</m:t>
                                    </m:r>
                                    <m:sSup>
                                      <m:sSup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446D7B-09F1-40BC-DB12-C1ABC050B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054" y="2438574"/>
                <a:ext cx="6938211" cy="914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Down 13">
            <a:extLst>
              <a:ext uri="{FF2B5EF4-FFF2-40B4-BE49-F238E27FC236}">
                <a16:creationId xmlns:a16="http://schemas.microsoft.com/office/drawing/2014/main" id="{C1F8A3C7-BD25-28B4-36DF-50212FF291AA}"/>
              </a:ext>
            </a:extLst>
          </p:cNvPr>
          <p:cNvSpPr/>
          <p:nvPr/>
        </p:nvSpPr>
        <p:spPr>
          <a:xfrm>
            <a:off x="8646691" y="3389682"/>
            <a:ext cx="312819" cy="79654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9B4D3FFD-9FC7-753F-2118-819A7FE5F149}"/>
              </a:ext>
            </a:extLst>
          </p:cNvPr>
          <p:cNvSpPr/>
          <p:nvPr/>
        </p:nvSpPr>
        <p:spPr>
          <a:xfrm>
            <a:off x="6497053" y="1491916"/>
            <a:ext cx="4844715" cy="128337"/>
          </a:xfrm>
          <a:prstGeom prst="flowChart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56CFAA59-F6F1-A347-FEAE-47A2791FE0C2}"/>
              </a:ext>
            </a:extLst>
          </p:cNvPr>
          <p:cNvSpPr/>
          <p:nvPr/>
        </p:nvSpPr>
        <p:spPr>
          <a:xfrm>
            <a:off x="6368716" y="1441742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7428188A-BAAC-9058-1283-B9B3FB0F472B}"/>
              </a:ext>
            </a:extLst>
          </p:cNvPr>
          <p:cNvSpPr/>
          <p:nvPr/>
        </p:nvSpPr>
        <p:spPr>
          <a:xfrm>
            <a:off x="11197389" y="1451810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2DBBCFA5-B176-EB38-BE4E-3D13E4E999F1}"/>
              </a:ext>
            </a:extLst>
          </p:cNvPr>
          <p:cNvSpPr/>
          <p:nvPr/>
        </p:nvSpPr>
        <p:spPr>
          <a:xfrm>
            <a:off x="8141370" y="1451811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9225EE8E-D924-9582-6FAD-378D14D30CFF}"/>
              </a:ext>
            </a:extLst>
          </p:cNvPr>
          <p:cNvSpPr/>
          <p:nvPr/>
        </p:nvSpPr>
        <p:spPr>
          <a:xfrm>
            <a:off x="9914024" y="1451811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515E0C-7C55-E45F-0ECC-FC7EC5DD8289}"/>
                  </a:ext>
                </a:extLst>
              </p:cNvPr>
              <p:cNvSpPr txBox="1"/>
              <p:nvPr/>
            </p:nvSpPr>
            <p:spPr>
              <a:xfrm>
                <a:off x="5791198" y="768917"/>
                <a:ext cx="1291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515E0C-7C55-E45F-0ECC-FC7EC5DD8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198" y="768917"/>
                <a:ext cx="129145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Bent 20">
            <a:extLst>
              <a:ext uri="{FF2B5EF4-FFF2-40B4-BE49-F238E27FC236}">
                <a16:creationId xmlns:a16="http://schemas.microsoft.com/office/drawing/2014/main" id="{FB260D74-966F-02DF-8AD3-590CFEADC125}"/>
              </a:ext>
            </a:extLst>
          </p:cNvPr>
          <p:cNvSpPr/>
          <p:nvPr/>
        </p:nvSpPr>
        <p:spPr>
          <a:xfrm rot="10800000" flipH="1">
            <a:off x="6015787" y="1169026"/>
            <a:ext cx="256673" cy="379035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9479D9-29D1-7ED1-328A-1C717210AC4D}"/>
                  </a:ext>
                </a:extLst>
              </p:cNvPr>
              <p:cNvSpPr txBox="1"/>
              <p:nvPr/>
            </p:nvSpPr>
            <p:spPr>
              <a:xfrm flipH="1">
                <a:off x="10956692" y="778509"/>
                <a:ext cx="1291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9479D9-29D1-7ED1-328A-1C717210A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956692" y="778509"/>
                <a:ext cx="1291458" cy="461665"/>
              </a:xfrm>
              <a:prstGeom prst="rect">
                <a:avLst/>
              </a:prstGeom>
              <a:blipFill>
                <a:blip r:embed="rId5"/>
                <a:stretch>
                  <a:fillRect r="-1415" b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Bent 22">
            <a:extLst>
              <a:ext uri="{FF2B5EF4-FFF2-40B4-BE49-F238E27FC236}">
                <a16:creationId xmlns:a16="http://schemas.microsoft.com/office/drawing/2014/main" id="{6C9C28B1-9EDE-6A8B-1431-4A30A0954EB1}"/>
              </a:ext>
            </a:extLst>
          </p:cNvPr>
          <p:cNvSpPr/>
          <p:nvPr/>
        </p:nvSpPr>
        <p:spPr>
          <a:xfrm rot="10800000">
            <a:off x="11550316" y="1231140"/>
            <a:ext cx="272723" cy="374007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B8DAB55-5C3D-9941-3C8D-47364C261FDF}"/>
                  </a:ext>
                </a:extLst>
              </p:cNvPr>
              <p:cNvSpPr txBox="1"/>
              <p:nvPr/>
            </p:nvSpPr>
            <p:spPr>
              <a:xfrm>
                <a:off x="8101266" y="1574210"/>
                <a:ext cx="381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B8DAB55-5C3D-9941-3C8D-47364C261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266" y="1574210"/>
                <a:ext cx="381000" cy="461665"/>
              </a:xfrm>
              <a:prstGeom prst="rect">
                <a:avLst/>
              </a:prstGeom>
              <a:blipFill>
                <a:blip r:embed="rId6"/>
                <a:stretch>
                  <a:fillRect r="-22581"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119499-0E47-1024-2775-2BD40F8E6797}"/>
                  </a:ext>
                </a:extLst>
              </p:cNvPr>
              <p:cNvSpPr txBox="1"/>
              <p:nvPr/>
            </p:nvSpPr>
            <p:spPr>
              <a:xfrm>
                <a:off x="9873920" y="1584400"/>
                <a:ext cx="381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119499-0E47-1024-2775-2BD40F8E6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3920" y="1584400"/>
                <a:ext cx="381000" cy="461665"/>
              </a:xfrm>
              <a:prstGeom prst="rect">
                <a:avLst/>
              </a:prstGeom>
              <a:blipFill>
                <a:blip r:embed="rId7"/>
                <a:stretch>
                  <a:fillRect r="-241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Bent-Up 26">
            <a:extLst>
              <a:ext uri="{FF2B5EF4-FFF2-40B4-BE49-F238E27FC236}">
                <a16:creationId xmlns:a16="http://schemas.microsoft.com/office/drawing/2014/main" id="{66DD905E-38E6-572E-460A-F07782D3C6E0}"/>
              </a:ext>
            </a:extLst>
          </p:cNvPr>
          <p:cNvSpPr/>
          <p:nvPr/>
        </p:nvSpPr>
        <p:spPr>
          <a:xfrm>
            <a:off x="5037220" y="3429000"/>
            <a:ext cx="753977" cy="2027504"/>
          </a:xfrm>
          <a:prstGeom prst="bentUpArrow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C06A26-A4B1-DCD9-6EF3-12F40D28BD7B}"/>
                  </a:ext>
                </a:extLst>
              </p:cNvPr>
              <p:cNvSpPr txBox="1"/>
              <p:nvPr/>
            </p:nvSpPr>
            <p:spPr>
              <a:xfrm>
                <a:off x="6272460" y="4288715"/>
                <a:ext cx="2630905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Exact Solution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0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C06A26-A4B1-DCD9-6EF3-12F40D28B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460" y="4288715"/>
                <a:ext cx="2630905" cy="984885"/>
              </a:xfrm>
              <a:prstGeom prst="rect">
                <a:avLst/>
              </a:prstGeom>
              <a:blipFill>
                <a:blip r:embed="rId8"/>
                <a:stretch>
                  <a:fillRect l="-2546" t="-37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A06244C-4269-0D60-337C-5D37CE86DB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7378967"/>
                  </p:ext>
                </p:extLst>
              </p:nvPr>
            </p:nvGraphicFramePr>
            <p:xfrm>
              <a:off x="6605398" y="5054993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07257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306293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A06244C-4269-0D60-337C-5D37CE86DB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7378967"/>
                  </p:ext>
                </p:extLst>
              </p:nvPr>
            </p:nvGraphicFramePr>
            <p:xfrm>
              <a:off x="6605398" y="5054993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07257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306293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752" t="-8197" r="-163158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752" t="-108197" r="-163158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752" t="-208197" r="-16315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752" t="-308197" r="-16315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C7EA0B6-3F81-BF96-1D46-14137B2DEFB1}"/>
              </a:ext>
            </a:extLst>
          </p:cNvPr>
          <p:cNvSpPr txBox="1"/>
          <p:nvPr/>
        </p:nvSpPr>
        <p:spPr>
          <a:xfrm>
            <a:off x="9180221" y="4288715"/>
            <a:ext cx="2630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FDM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8C8F63E5-41E8-0130-DE28-E1289EA1DA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4907561"/>
                  </p:ext>
                </p:extLst>
              </p:nvPr>
            </p:nvGraphicFramePr>
            <p:xfrm>
              <a:off x="9364638" y="5039485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6475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147075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8C8F63E5-41E8-0130-DE28-E1289EA1DA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4907561"/>
                  </p:ext>
                </p:extLst>
              </p:nvPr>
            </p:nvGraphicFramePr>
            <p:xfrm>
              <a:off x="9364638" y="5039485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6475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147075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629" t="-8197" r="-119497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629" t="-106452" r="-119497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629" t="-209836" r="-11949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629" t="-309836" r="-119497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88168" y="-296862"/>
            <a:ext cx="10972800" cy="1143000"/>
          </a:xfrm>
        </p:spPr>
        <p:txBody>
          <a:bodyPr/>
          <a:lstStyle/>
          <a:p>
            <a:r>
              <a:rPr dirty="0"/>
              <a:t>1D Diffusion: Numerical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A0562C-509D-1826-3B3D-DA922410B7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0422" y="846138"/>
                <a:ext cx="6079958" cy="54584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800" dirty="0"/>
                  <a:t>FDM Discretization </a:t>
                </a:r>
              </a:p>
              <a:p>
                <a:pPr marL="0" indent="0">
                  <a:buNone/>
                </a:pPr>
                <a:r>
                  <a:rPr lang="en-IN" sz="2400" dirty="0"/>
                  <a:t>For Dirichlet-Neumann Boundary Conditions</a:t>
                </a:r>
                <a:r>
                  <a:rPr lang="en-IN" sz="20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 −2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+1 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−2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b="0" dirty="0"/>
                  <a:t>  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b="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b="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=−3 </m:t>
                    </m:r>
                  </m:oMath>
                </a14:m>
                <a:r>
                  <a:rPr lang="en-IN" sz="26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−6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6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 −6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dirty="0"/>
                  <a:t> </a:t>
                </a:r>
              </a:p>
              <a:p>
                <a:pPr marL="0" indent="0">
                  <a:buNone/>
                </a:pPr>
                <a:endParaRPr lang="en-IN" sz="2600" dirty="0"/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A0562C-509D-1826-3B3D-DA922410B7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422" y="846138"/>
                <a:ext cx="6079958" cy="5458409"/>
              </a:xfrm>
              <a:blipFill>
                <a:blip r:embed="rId2"/>
                <a:stretch>
                  <a:fillRect l="-2004" t="-11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BDCFEB71-1C35-04FE-5C4D-B631C50B5BCE}"/>
              </a:ext>
            </a:extLst>
          </p:cNvPr>
          <p:cNvSpPr/>
          <p:nvPr/>
        </p:nvSpPr>
        <p:spPr>
          <a:xfrm>
            <a:off x="1868904" y="2213984"/>
            <a:ext cx="336885" cy="449179"/>
          </a:xfrm>
          <a:prstGeom prst="downArrow">
            <a:avLst>
              <a:gd name="adj1" fmla="val 50000"/>
              <a:gd name="adj2" fmla="val 5133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9B4D3FFD-9FC7-753F-2118-819A7FE5F149}"/>
              </a:ext>
            </a:extLst>
          </p:cNvPr>
          <p:cNvSpPr/>
          <p:nvPr/>
        </p:nvSpPr>
        <p:spPr>
          <a:xfrm>
            <a:off x="6497053" y="1491916"/>
            <a:ext cx="4844715" cy="128337"/>
          </a:xfrm>
          <a:prstGeom prst="flowChart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56CFAA59-F6F1-A347-FEAE-47A2791FE0C2}"/>
              </a:ext>
            </a:extLst>
          </p:cNvPr>
          <p:cNvSpPr/>
          <p:nvPr/>
        </p:nvSpPr>
        <p:spPr>
          <a:xfrm>
            <a:off x="6368716" y="1441742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7428188A-BAAC-9058-1283-B9B3FB0F472B}"/>
              </a:ext>
            </a:extLst>
          </p:cNvPr>
          <p:cNvSpPr/>
          <p:nvPr/>
        </p:nvSpPr>
        <p:spPr>
          <a:xfrm>
            <a:off x="11197389" y="1451810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2DBBCFA5-B176-EB38-BE4E-3D13E4E999F1}"/>
              </a:ext>
            </a:extLst>
          </p:cNvPr>
          <p:cNvSpPr/>
          <p:nvPr/>
        </p:nvSpPr>
        <p:spPr>
          <a:xfrm>
            <a:off x="8141370" y="1451811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9225EE8E-D924-9582-6FAD-378D14D30CFF}"/>
              </a:ext>
            </a:extLst>
          </p:cNvPr>
          <p:cNvSpPr/>
          <p:nvPr/>
        </p:nvSpPr>
        <p:spPr>
          <a:xfrm>
            <a:off x="9914024" y="1451811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515E0C-7C55-E45F-0ECC-FC7EC5DD8289}"/>
                  </a:ext>
                </a:extLst>
              </p:cNvPr>
              <p:cNvSpPr txBox="1"/>
              <p:nvPr/>
            </p:nvSpPr>
            <p:spPr>
              <a:xfrm>
                <a:off x="5791198" y="768917"/>
                <a:ext cx="1291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515E0C-7C55-E45F-0ECC-FC7EC5DD8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198" y="768917"/>
                <a:ext cx="1291458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Bent 20">
            <a:extLst>
              <a:ext uri="{FF2B5EF4-FFF2-40B4-BE49-F238E27FC236}">
                <a16:creationId xmlns:a16="http://schemas.microsoft.com/office/drawing/2014/main" id="{FB260D74-966F-02DF-8AD3-590CFEADC125}"/>
              </a:ext>
            </a:extLst>
          </p:cNvPr>
          <p:cNvSpPr/>
          <p:nvPr/>
        </p:nvSpPr>
        <p:spPr>
          <a:xfrm rot="10800000" flipH="1">
            <a:off x="6015787" y="1169026"/>
            <a:ext cx="256673" cy="379035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9479D9-29D1-7ED1-328A-1C717210AC4D}"/>
                  </a:ext>
                </a:extLst>
              </p:cNvPr>
              <p:cNvSpPr txBox="1"/>
              <p:nvPr/>
            </p:nvSpPr>
            <p:spPr>
              <a:xfrm flipH="1">
                <a:off x="10467464" y="470042"/>
                <a:ext cx="1660361" cy="797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9479D9-29D1-7ED1-328A-1C717210A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467464" y="470042"/>
                <a:ext cx="1660361" cy="7979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Bent 22">
            <a:extLst>
              <a:ext uri="{FF2B5EF4-FFF2-40B4-BE49-F238E27FC236}">
                <a16:creationId xmlns:a16="http://schemas.microsoft.com/office/drawing/2014/main" id="{6C9C28B1-9EDE-6A8B-1431-4A30A0954EB1}"/>
              </a:ext>
            </a:extLst>
          </p:cNvPr>
          <p:cNvSpPr/>
          <p:nvPr/>
        </p:nvSpPr>
        <p:spPr>
          <a:xfrm rot="10800000">
            <a:off x="11550316" y="1231140"/>
            <a:ext cx="272723" cy="374007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B8DAB55-5C3D-9941-3C8D-47364C261FDF}"/>
                  </a:ext>
                </a:extLst>
              </p:cNvPr>
              <p:cNvSpPr txBox="1"/>
              <p:nvPr/>
            </p:nvSpPr>
            <p:spPr>
              <a:xfrm>
                <a:off x="8101266" y="1574210"/>
                <a:ext cx="381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B8DAB55-5C3D-9941-3C8D-47364C261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266" y="1574210"/>
                <a:ext cx="381000" cy="461665"/>
              </a:xfrm>
              <a:prstGeom prst="rect">
                <a:avLst/>
              </a:prstGeom>
              <a:blipFill>
                <a:blip r:embed="rId5"/>
                <a:stretch>
                  <a:fillRect r="-22581"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119499-0E47-1024-2775-2BD40F8E6797}"/>
                  </a:ext>
                </a:extLst>
              </p:cNvPr>
              <p:cNvSpPr txBox="1"/>
              <p:nvPr/>
            </p:nvSpPr>
            <p:spPr>
              <a:xfrm>
                <a:off x="9873920" y="1584400"/>
                <a:ext cx="381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119499-0E47-1024-2775-2BD40F8E6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3920" y="1584400"/>
                <a:ext cx="381000" cy="461665"/>
              </a:xfrm>
              <a:prstGeom prst="rect">
                <a:avLst/>
              </a:prstGeom>
              <a:blipFill>
                <a:blip r:embed="rId6"/>
                <a:stretch>
                  <a:fillRect r="-241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2DE770-304B-73D3-06FA-84783D9EC3D6}"/>
                  </a:ext>
                </a:extLst>
              </p:cNvPr>
              <p:cNvSpPr txBox="1"/>
              <p:nvPr/>
            </p:nvSpPr>
            <p:spPr>
              <a:xfrm>
                <a:off x="5197642" y="2213984"/>
                <a:ext cx="6625397" cy="997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sSup>
                                      <m:sSup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1 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2+2</m:t>
                                    </m:r>
                                    <m:sSup>
                                      <m:sSup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2+2</m:t>
                                    </m:r>
                                    <m:sSup>
                                      <m:sSup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+6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2DE770-304B-73D3-06FA-84783D9EC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642" y="2213984"/>
                <a:ext cx="6625397" cy="9977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Bent-Up 3">
            <a:extLst>
              <a:ext uri="{FF2B5EF4-FFF2-40B4-BE49-F238E27FC236}">
                <a16:creationId xmlns:a16="http://schemas.microsoft.com/office/drawing/2014/main" id="{0F714188-BD31-E1CA-C3F9-301B82D3F534}"/>
              </a:ext>
            </a:extLst>
          </p:cNvPr>
          <p:cNvSpPr/>
          <p:nvPr/>
        </p:nvSpPr>
        <p:spPr>
          <a:xfrm>
            <a:off x="5438274" y="3379677"/>
            <a:ext cx="577513" cy="2219018"/>
          </a:xfrm>
          <a:prstGeom prst="bentUp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A85F1CF8-DD55-C559-ACFF-F0F55F4DFD04}"/>
              </a:ext>
            </a:extLst>
          </p:cNvPr>
          <p:cNvSpPr/>
          <p:nvPr/>
        </p:nvSpPr>
        <p:spPr>
          <a:xfrm>
            <a:off x="8482266" y="3379677"/>
            <a:ext cx="517355" cy="49800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50A7F7-4AE3-DF83-3EC3-9A867772EC76}"/>
                  </a:ext>
                </a:extLst>
              </p:cNvPr>
              <p:cNvSpPr txBox="1"/>
              <p:nvPr/>
            </p:nvSpPr>
            <p:spPr>
              <a:xfrm>
                <a:off x="11171323" y="1584399"/>
                <a:ext cx="381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50A7F7-4AE3-DF83-3EC3-9A867772E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323" y="1584399"/>
                <a:ext cx="381000" cy="461665"/>
              </a:xfrm>
              <a:prstGeom prst="rect">
                <a:avLst/>
              </a:prstGeom>
              <a:blipFill>
                <a:blip r:embed="rId9"/>
                <a:stretch>
                  <a:fillRect r="-241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BE2B03-515E-0F4A-200A-0B1CB1900C87}"/>
                  </a:ext>
                </a:extLst>
              </p:cNvPr>
              <p:cNvSpPr txBox="1"/>
              <p:nvPr/>
            </p:nvSpPr>
            <p:spPr>
              <a:xfrm>
                <a:off x="6368715" y="4090737"/>
                <a:ext cx="2630905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Exact Solution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0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BE2B03-515E-0F4A-200A-0B1CB1900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715" y="4090737"/>
                <a:ext cx="2630905" cy="984885"/>
              </a:xfrm>
              <a:prstGeom prst="rect">
                <a:avLst/>
              </a:prstGeom>
              <a:blipFill>
                <a:blip r:embed="rId10"/>
                <a:stretch>
                  <a:fillRect l="-2552" t="-30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DFB4029E-E7EA-B9FF-A6FC-257A31889C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9313368"/>
                  </p:ext>
                </p:extLst>
              </p:nvPr>
            </p:nvGraphicFramePr>
            <p:xfrm>
              <a:off x="6701653" y="4857015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07257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306293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DFB4029E-E7EA-B9FF-A6FC-257A31889C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9313368"/>
                  </p:ext>
                </p:extLst>
              </p:nvPr>
            </p:nvGraphicFramePr>
            <p:xfrm>
              <a:off x="6701653" y="4857015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07257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306293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752" t="-8197" r="-163158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752" t="-106452" r="-163158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752" t="-209836" r="-163158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752" t="-309836" r="-16315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374782F-8E3E-D720-53F7-271F66117394}"/>
              </a:ext>
            </a:extLst>
          </p:cNvPr>
          <p:cNvSpPr txBox="1"/>
          <p:nvPr/>
        </p:nvSpPr>
        <p:spPr>
          <a:xfrm>
            <a:off x="9276476" y="4090737"/>
            <a:ext cx="2630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FDM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6A4851B-208F-74AF-6F08-3183E7A33D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2522959"/>
                  </p:ext>
                </p:extLst>
              </p:nvPr>
            </p:nvGraphicFramePr>
            <p:xfrm>
              <a:off x="9460893" y="4841507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6475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147075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6A4851B-208F-74AF-6F08-3183E7A33D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2522959"/>
                  </p:ext>
                </p:extLst>
              </p:nvPr>
            </p:nvGraphicFramePr>
            <p:xfrm>
              <a:off x="9460893" y="4841507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6475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147075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629" t="-8197" r="-120126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629" t="-108197" r="-12012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629" t="-208197" r="-120126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629" t="-308197" r="-12012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98379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55037" y="-128101"/>
            <a:ext cx="10972800" cy="974239"/>
          </a:xfrm>
        </p:spPr>
        <p:txBody>
          <a:bodyPr>
            <a:normAutofit/>
          </a:bodyPr>
          <a:lstStyle/>
          <a:p>
            <a:r>
              <a:rPr sz="3600" dirty="0"/>
              <a:t>1D Diffusion: Numerical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47023C3-46C5-3F83-81B1-6B98C65E31B3}"/>
                  </a:ext>
                </a:extLst>
              </p:cNvPr>
              <p:cNvSpPr txBox="1"/>
              <p:nvPr/>
            </p:nvSpPr>
            <p:spPr>
              <a:xfrm>
                <a:off x="288758" y="846138"/>
                <a:ext cx="4470877" cy="5294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FEM Methods </a:t>
                </a:r>
              </a:p>
              <a:p>
                <a:r>
                  <a:rPr lang="en-US" sz="2400" dirty="0"/>
                  <a:t>Using the shape functions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IN" sz="2200" dirty="0"/>
              </a:p>
              <a:p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IN" sz="2200" dirty="0"/>
              </a:p>
              <a:p>
                <a:endParaRPr lang="en-IN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IN" sz="2200" dirty="0"/>
              </a:p>
              <a:p>
                <a:r>
                  <a:rPr lang="en-IN" sz="2400" dirty="0" err="1"/>
                  <a:t>Galerkin</a:t>
                </a:r>
                <a:r>
                  <a:rPr lang="en-IN" sz="2400" dirty="0"/>
                  <a:t> Method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sz="2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p>
                                    <m:sSup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−2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=0 </m:t>
                          </m:r>
                        </m:e>
                      </m:nary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47023C3-46C5-3F83-81B1-6B98C65E3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8" y="846138"/>
                <a:ext cx="4470877" cy="5294463"/>
              </a:xfrm>
              <a:prstGeom prst="rect">
                <a:avLst/>
              </a:prstGeom>
              <a:blipFill>
                <a:blip r:embed="rId2"/>
                <a:stretch>
                  <a:fillRect l="-2044" t="-9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CD8CA2-EDF8-1002-9C37-DE08979E0ADF}"/>
                  </a:ext>
                </a:extLst>
              </p:cNvPr>
              <p:cNvSpPr txBox="1"/>
              <p:nvPr/>
            </p:nvSpPr>
            <p:spPr>
              <a:xfrm>
                <a:off x="5043527" y="874128"/>
                <a:ext cx="7148473" cy="5494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Weak form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𝑑𝑊</m:t>
                                  </m:r>
                                </m:num>
                                <m:den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𝑑𝑢</m:t>
                                  </m:r>
                                </m:num>
                                <m:den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𝑊𝑢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nary>
                            <m:nary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𝑊𝑓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f>
                                    <m:f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𝑑𝑢</m:t>
                                      </m:r>
                                    </m:num>
                                    <m:den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IN" sz="2200" dirty="0"/>
              </a:p>
              <a:p>
                <a:endParaRPr lang="en-IN" sz="22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200" dirty="0"/>
                  <a:t>Stiffness matrix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f>
                                          <m:f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mr>
                                    <m:mr>
                                      <m:e>
                                        <m:f>
                                          <m:f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𝑑𝑥</m:t>
                                            </m:r>
                                          </m:den>
                                        </m:f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f>
                                          <m:f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  <m:e>
                                        <m:f>
                                          <m:f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𝑑𝑥</m:t>
                                            </m:r>
                                          </m:den>
                                        </m:f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+[</m:t>
                      </m:r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2200" dirty="0"/>
              </a:p>
              <a:p>
                <a:endParaRPr lang="en-IN" sz="22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200" dirty="0"/>
                  <a:t>Element Force Vector </a:t>
                </a:r>
              </a:p>
              <a:p>
                <a:endParaRPr lang="en-IN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sup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</m:e>
                      </m:nary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CD8CA2-EDF8-1002-9C37-DE08979E0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527" y="874128"/>
                <a:ext cx="7148473" cy="5494453"/>
              </a:xfrm>
              <a:prstGeom prst="rect">
                <a:avLst/>
              </a:prstGeom>
              <a:blipFill>
                <a:blip r:embed="rId3"/>
                <a:stretch>
                  <a:fillRect l="-1108" t="-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 descr="Stiffness matrices for each element of the 2D beam in finite element method | FEA analysis">
            <a:extLst>
              <a:ext uri="{FF2B5EF4-FFF2-40B4-BE49-F238E27FC236}">
                <a16:creationId xmlns:a16="http://schemas.microsoft.com/office/drawing/2014/main" id="{9F97BC75-D007-1FBF-1489-F687B2D96A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3" r="3990" b="54361"/>
          <a:stretch/>
        </p:blipFill>
        <p:spPr bwMode="auto">
          <a:xfrm>
            <a:off x="7030558" y="49086"/>
            <a:ext cx="4470878" cy="133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675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86002" y="-128101"/>
            <a:ext cx="10972800" cy="974239"/>
          </a:xfrm>
        </p:spPr>
        <p:txBody>
          <a:bodyPr>
            <a:normAutofit/>
          </a:bodyPr>
          <a:lstStyle/>
          <a:p>
            <a:r>
              <a:rPr sz="3600" dirty="0"/>
              <a:t>1D Diffusion: Numerical Method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D81212A-BDD6-C846-74FD-45D73C0B50F6}"/>
              </a:ext>
            </a:extLst>
          </p:cNvPr>
          <p:cNvGrpSpPr/>
          <p:nvPr/>
        </p:nvGrpSpPr>
        <p:grpSpPr>
          <a:xfrm>
            <a:off x="7292853" y="471635"/>
            <a:ext cx="5871408" cy="5638247"/>
            <a:chOff x="7039331" y="144379"/>
            <a:chExt cx="5871408" cy="5638247"/>
          </a:xfrm>
        </p:grpSpPr>
        <p:pic>
          <p:nvPicPr>
            <p:cNvPr id="1026" name="Picture 2" descr="Stiffness matrices for each element of the 2D beam in finite element method | FEA analysis">
              <a:extLst>
                <a:ext uri="{FF2B5EF4-FFF2-40B4-BE49-F238E27FC236}">
                  <a16:creationId xmlns:a16="http://schemas.microsoft.com/office/drawing/2014/main" id="{3D7709AD-8177-2253-9296-BD604A9C93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531"/>
            <a:stretch/>
          </p:blipFill>
          <p:spPr bwMode="auto">
            <a:xfrm>
              <a:off x="7039331" y="144379"/>
              <a:ext cx="4940965" cy="2925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Global stiffness matrix of a 2D beam element in FEA analysis">
              <a:extLst>
                <a:ext uri="{FF2B5EF4-FFF2-40B4-BE49-F238E27FC236}">
                  <a16:creationId xmlns:a16="http://schemas.microsoft.com/office/drawing/2014/main" id="{3BC9F983-6B09-713F-3381-1B237DDBC7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427" b="1"/>
            <a:stretch/>
          </p:blipFill>
          <p:spPr bwMode="auto">
            <a:xfrm>
              <a:off x="7539791" y="3133587"/>
              <a:ext cx="5370948" cy="26490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7CA6DB-0A26-3EDF-2781-8FFAEA72B728}"/>
                  </a:ext>
                </a:extLst>
              </p:cNvPr>
              <p:cNvSpPr txBox="1"/>
              <p:nvPr/>
            </p:nvSpPr>
            <p:spPr>
              <a:xfrm>
                <a:off x="166726" y="621549"/>
                <a:ext cx="6955969" cy="6132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Global Stiffness Matrix </a:t>
                </a:r>
              </a:p>
              <a:p>
                <a:endParaRPr lang="x-IV_mathan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x-IV_matha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x-IV_mathan" sz="140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x-IV_mathan" sz="1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IV_matha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x-IV_mathan" sz="1400" i="1" smtClean="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x-IV_mathan" sz="1400" smtClean="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x-IV_mathan" sz="1400" i="1" smtClean="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  <m:e>
                                <m:d>
                                  <m:dPr>
                                    <m:ctrlPr>
                                      <a:rPr lang="x-IV_mathan" sz="1400" i="1" smtClean="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x-IV_mathan" sz="1400" i="1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x-IV_mathan" sz="1400" i="1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num>
                                      <m:den>
                                        <m:r>
                                          <a:rPr lang="x-IV_mathan" sz="1400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x-IV_mathan" sz="1400" i="1" smtClean="0">
                                        <a:solidFill>
                                          <a:srgbClr val="FFCC00"/>
                                        </a:solidFill>
                                        <a:highlight>
                                          <a:srgbClr val="FFFF00"/>
                                        </a:highlight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num>
                                      <m:den>
                                        <m:r>
                                          <a:rPr lang="x-IV_mathan" sz="1400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e>
                                <m:r>
                                  <a:rPr lang="x-IV_mathan" sz="1400" smtClean="0">
                                    <a:solidFill>
                                      <a:srgbClr val="FFCC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FFCC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x-IV_mathan" sz="1400" smtClean="0">
                                    <a:solidFill>
                                      <a:srgbClr val="FFCC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FFCC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  <m:e>
                                <m:d>
                                  <m:dPr>
                                    <m:ctrlPr>
                                      <a:rPr lang="x-IV_mathan" sz="1400" i="1" smtClean="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num>
                                      <m:den>
                                        <m:r>
                                          <a:rPr lang="x-IV_mathan" sz="1400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x-IV_mathan" sz="140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x-IV_mathan" sz="14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x-IV_mathan" sz="14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num>
                                      <m:den>
                                        <m:r>
                                          <a:rPr lang="x-IV_mathan" sz="140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x-IV_mathan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x-IV_mathan" sz="140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x-IV_mathan" sz="140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x-IV_mathan" sz="140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400" dirty="0"/>
              </a:p>
              <a:p>
                <a:endParaRPr lang="en-IN" sz="1400" dirty="0"/>
              </a:p>
              <a:p>
                <a:r>
                  <a:rPr lang="en-IN" dirty="0"/>
                  <a:t>Force Vectors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x-IV_matha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x-IV_mathan" i="1" smtClean="0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x-IV_mathan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x-IV_mathan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x-IV_mathan" i="1" smtClean="0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x-IV_mathan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x-IV_mathan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x-IV_mathan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x-IV_mathan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Sup>
                                <m:sSubSupPr>
                                  <m:ctrlPr>
                                    <a:rPr lang="x-IV_mathan" i="1" smtClean="0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x-IV_mathan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x-IV_mathan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x-IV_mathan" i="1" smtClean="0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x-IV_mathan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x-IV_mathan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x-IV_mathan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IV_mathan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x-IV_mathan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x-IV_mathan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x-IV_mathan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x-IV_mathan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 </a:t>
                </a:r>
              </a:p>
              <a:p>
                <a:r>
                  <a:rPr lang="en-IN" dirty="0"/>
                  <a:t>Solving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For Dirichlet-Dirichlet BCs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x-IV_matha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x-IV_mathan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x-IV_mathan">
                                  <a:latin typeface="Cambria Math" panose="02040503050406030204" pitchFamily="18" charset="0"/>
                                </a:rPr>
                                <m:t>0.1180556</m:t>
                              </m:r>
                            </m:e>
                          </m:mr>
                          <m:mr>
                            <m:e>
                              <m:r>
                                <a:rPr lang="x-IV_mathan">
                                  <a:latin typeface="Cambria Math" panose="02040503050406030204" pitchFamily="18" charset="0"/>
                                </a:rPr>
                                <m:t>−0.2152778</m:t>
                              </m:r>
                            </m:e>
                          </m:mr>
                          <m:mr>
                            <m:e>
                              <m:r>
                                <a:rPr lang="x-IV_matha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7CA6DB-0A26-3EDF-2781-8FFAEA72B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26" y="621549"/>
                <a:ext cx="6955969" cy="6132961"/>
              </a:xfrm>
              <a:prstGeom prst="rect">
                <a:avLst/>
              </a:prstGeom>
              <a:blipFill>
                <a:blip r:embed="rId4"/>
                <a:stretch>
                  <a:fillRect l="-876" t="-5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1D46FB-0FE3-EEB4-E6B1-30975862A7E6}"/>
                  </a:ext>
                </a:extLst>
              </p:cNvPr>
              <p:cNvSpPr txBox="1"/>
              <p:nvPr/>
            </p:nvSpPr>
            <p:spPr>
              <a:xfrm>
                <a:off x="2470484" y="3317844"/>
                <a:ext cx="4235116" cy="1467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Sup>
                                      <m:sSubSup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bSup>
                                  </m:e>
                                </m:eqArr>
                              </m:e>
                            </m:mr>
                            <m:mr>
                              <m:e/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1D46FB-0FE3-EEB4-E6B1-30975862A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484" y="3317844"/>
                <a:ext cx="4235116" cy="1467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4CB67B-A537-77CF-87CB-194D86F0A0F1}"/>
                  </a:ext>
                </a:extLst>
              </p:cNvPr>
              <p:cNvSpPr txBox="1"/>
              <p:nvPr/>
            </p:nvSpPr>
            <p:spPr>
              <a:xfrm>
                <a:off x="3304673" y="5335118"/>
                <a:ext cx="2791327" cy="1389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Dirichlet-Neumann BCs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0.12314452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−0.20392548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−0.97976461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4CB67B-A537-77CF-87CB-194D86F0A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673" y="5335118"/>
                <a:ext cx="2791327" cy="1389804"/>
              </a:xfrm>
              <a:prstGeom prst="rect">
                <a:avLst/>
              </a:prstGeom>
              <a:blipFill>
                <a:blip r:embed="rId6"/>
                <a:stretch>
                  <a:fillRect l="-1747" t="-21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175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9031E-B0C7-5736-CAB0-5BAA74A8B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90273" y="-296862"/>
            <a:ext cx="10972800" cy="1143000"/>
          </a:xfrm>
        </p:spPr>
        <p:txBody>
          <a:bodyPr>
            <a:normAutofit/>
          </a:bodyPr>
          <a:lstStyle/>
          <a:p>
            <a:r>
              <a:rPr lang="en-IN" sz="3600" dirty="0"/>
              <a:t>1D Diffusion: Numerical Method</a:t>
            </a:r>
          </a:p>
        </p:txBody>
      </p:sp>
      <p:pic>
        <p:nvPicPr>
          <p:cNvPr id="2050" name="Picture 2" descr="Introduction to Computational Fluid Dynamics FINITE VOLUME METHOD">
            <a:extLst>
              <a:ext uri="{FF2B5EF4-FFF2-40B4-BE49-F238E27FC236}">
                <a16:creationId xmlns:a16="http://schemas.microsoft.com/office/drawing/2014/main" id="{6FA60A54-11CD-53E9-7456-5B218D496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758" y="0"/>
            <a:ext cx="3160296" cy="182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486A35-38FE-A62F-CDAC-84F334CDB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579" y="1827836"/>
            <a:ext cx="4507834" cy="8539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7FAFE5-1C1A-D4CF-ED74-3EB14BD60AA6}"/>
                  </a:ext>
                </a:extLst>
              </p:cNvPr>
              <p:cNvSpPr txBox="1"/>
              <p:nvPr/>
            </p:nvSpPr>
            <p:spPr>
              <a:xfrm>
                <a:off x="417095" y="913918"/>
                <a:ext cx="6866021" cy="5499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FVM Methods</a:t>
                </a:r>
              </a:p>
              <a:p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brk m:alnAt="23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brk m:alnAt="23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−</m:t>
                      </m:r>
                      <m:nary>
                        <m:nary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I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𝑑𝑢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𝑑𝑢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IN" sz="2000" dirty="0"/>
              </a:p>
              <a:p>
                <a:endParaRPr lang="en-I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000" b="0" dirty="0"/>
              </a:p>
              <a:p>
                <a:r>
                  <a:rPr lang="en-IN" sz="2000" dirty="0"/>
                  <a:t>For node 1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000" b="0" dirty="0"/>
              </a:p>
              <a:p>
                <a:endParaRPr lang="en-I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7FAFE5-1C1A-D4CF-ED74-3EB14BD60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95" y="913918"/>
                <a:ext cx="6866021" cy="5499069"/>
              </a:xfrm>
              <a:prstGeom prst="rect">
                <a:avLst/>
              </a:prstGeom>
              <a:blipFill>
                <a:blip r:embed="rId4"/>
                <a:stretch>
                  <a:fillRect l="-1331" t="-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878127-DDF2-4D84-BAC6-85D244A1CCBE}"/>
                  </a:ext>
                </a:extLst>
              </p:cNvPr>
              <p:cNvSpPr txBox="1"/>
              <p:nvPr/>
            </p:nvSpPr>
            <p:spPr>
              <a:xfrm>
                <a:off x="7058525" y="3695825"/>
                <a:ext cx="4644191" cy="1399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For Dirichlet-Dirichlet BCs</a:t>
                </a:r>
              </a:p>
              <a:p>
                <a:r>
                  <a:rPr lang="en-IN" sz="2000" dirty="0"/>
                  <a:t>At node 2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878127-DDF2-4D84-BAC6-85D244A1C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525" y="3695825"/>
                <a:ext cx="4644191" cy="1399422"/>
              </a:xfrm>
              <a:prstGeom prst="rect">
                <a:avLst/>
              </a:prstGeom>
              <a:blipFill>
                <a:blip r:embed="rId5"/>
                <a:stretch>
                  <a:fillRect l="-1444" t="-21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737CF1-801C-68B3-2161-4060BFA2EE89}"/>
                  </a:ext>
                </a:extLst>
              </p:cNvPr>
              <p:cNvSpPr txBox="1"/>
              <p:nvPr/>
            </p:nvSpPr>
            <p:spPr>
              <a:xfrm>
                <a:off x="7230979" y="5086996"/>
                <a:ext cx="429928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For Dirichlet-Neumann BCs</a:t>
                </a:r>
              </a:p>
              <a:p>
                <a:r>
                  <a:rPr lang="en-IN" sz="2000" dirty="0"/>
                  <a:t>At node 3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737CF1-801C-68B3-2161-4060BFA2E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979" y="5086996"/>
                <a:ext cx="4299284" cy="1015663"/>
              </a:xfrm>
              <a:prstGeom prst="rect">
                <a:avLst/>
              </a:prstGeom>
              <a:blipFill>
                <a:blip r:embed="rId6"/>
                <a:stretch>
                  <a:fillRect l="-1418" t="-2994" b="-47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900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9031E-B0C7-5736-CAB0-5BAA74A8B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90273" y="-296862"/>
            <a:ext cx="10972800" cy="1143000"/>
          </a:xfrm>
        </p:spPr>
        <p:txBody>
          <a:bodyPr>
            <a:normAutofit/>
          </a:bodyPr>
          <a:lstStyle/>
          <a:p>
            <a:r>
              <a:rPr lang="en-IN" sz="3600" dirty="0"/>
              <a:t>1D Diffusion: Numerical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4AED51-B470-C2CD-528F-9B731D5AF8EA}"/>
                  </a:ext>
                </a:extLst>
              </p:cNvPr>
              <p:cNvSpPr txBox="1"/>
              <p:nvPr/>
            </p:nvSpPr>
            <p:spPr>
              <a:xfrm>
                <a:off x="56145" y="685717"/>
                <a:ext cx="6144127" cy="5880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For Dirichlet-Dirichlet Boundary Conditions</a:t>
                </a:r>
              </a:p>
              <a:p>
                <a:r>
                  <a:rPr lang="en-IN" sz="2400" dirty="0"/>
                  <a:t>The stiffness matrix </a:t>
                </a:r>
              </a:p>
              <a:p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  <m:e>
                                <m:f>
                                  <m:f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  <a:p>
                <a:r>
                  <a:rPr lang="en-IN" sz="2400" dirty="0"/>
                  <a:t>The right hand side of the matrix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IV_mathan" sz="1800" smtClean="0"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x-IV_mathan" sz="180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x-IV_mathan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 sz="1800" i="1">
                                    <a:effectLst/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x-IV_mathan" sz="180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IV_mathan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x-IV_mathan" sz="1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x-IV_mathan" sz="18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x-IV_mathan" sz="18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x-IV_mathan" sz="18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IV_mathan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sz="1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x-IV_mathan" sz="18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x-IV_mathan" sz="18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x-IV_mathan" sz="18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x-IV_mathan" sz="1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x-IV_mathan" sz="1800" i="1">
                                    <a:effectLst/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x-IV_mathan" sz="180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IV_mathan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x-IV_mathan" sz="1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x-IV_mathan" sz="18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x-IV_mathan" sz="18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x-IV_mathan" sz="18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IV_mathan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sz="1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x-IV_mathan" sz="18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x-IV_mathan" sz="18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x-IV_mathan" sz="18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x-IV_mathan" sz="1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  <a:p>
                <a:r>
                  <a:rPr lang="en-IN" sz="2200" dirty="0"/>
                  <a:t>Solving them we get the values of the interior nodes u as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0.1111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−0.2222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4AED51-B470-C2CD-528F-9B731D5AF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5" y="685717"/>
                <a:ext cx="6144127" cy="5880328"/>
              </a:xfrm>
              <a:prstGeom prst="rect">
                <a:avLst/>
              </a:prstGeom>
              <a:blipFill>
                <a:blip r:embed="rId2"/>
                <a:stretch>
                  <a:fillRect l="-1488" t="-829" r="-15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CD0FCB-75E0-668F-77DD-1673EEDE8184}"/>
                  </a:ext>
                </a:extLst>
              </p:cNvPr>
              <p:cNvSpPr txBox="1"/>
              <p:nvPr/>
            </p:nvSpPr>
            <p:spPr>
              <a:xfrm>
                <a:off x="6144126" y="681623"/>
                <a:ext cx="6144127" cy="5802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For Dirichlet-Neumann Boundary Conditions</a:t>
                </a:r>
              </a:p>
              <a:p>
                <a:r>
                  <a:rPr lang="en-IN" sz="2400" dirty="0"/>
                  <a:t>The stiffness matrix </a:t>
                </a:r>
              </a:p>
              <a:p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2+2</m:t>
                                    </m:r>
                                    <m:sSup>
                                      <m:sSup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2+2</m:t>
                                    </m:r>
                                    <m:sSup>
                                      <m:sSup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  <a:p>
                <a:r>
                  <a:rPr lang="en-IN" sz="2400" dirty="0"/>
                  <a:t>The right hand side of the matrix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IV_mathan" sz="1800" smtClean="0"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x-IV_mathan" sz="180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x-IV_mathan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  <m:r>
                                  <a:rPr lang="x-IV_matha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x-IV_mathan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  <a:p>
                <a:endParaRPr lang="en-IN" sz="2400" dirty="0"/>
              </a:p>
              <a:p>
                <a:r>
                  <a:rPr lang="en-IN" sz="2200" dirty="0"/>
                  <a:t>Solving them we get the values of the interior nodes u as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0.1111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−0.2222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CD0FCB-75E0-668F-77DD-1673EEDE8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126" y="681623"/>
                <a:ext cx="6144127" cy="5802038"/>
              </a:xfrm>
              <a:prstGeom prst="rect">
                <a:avLst/>
              </a:prstGeom>
              <a:blipFill>
                <a:blip r:embed="rId3"/>
                <a:stretch>
                  <a:fillRect l="-1587" t="-840" r="-15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BE7058-A24B-F7B4-A404-4636A0301554}"/>
              </a:ext>
            </a:extLst>
          </p:cNvPr>
          <p:cNvCxnSpPr/>
          <p:nvPr/>
        </p:nvCxnSpPr>
        <p:spPr>
          <a:xfrm>
            <a:off x="6144126" y="894264"/>
            <a:ext cx="0" cy="545840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120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4511163-E958-0B5B-89D1-210851C4C817}"/>
              </a:ext>
            </a:extLst>
          </p:cNvPr>
          <p:cNvGrpSpPr/>
          <p:nvPr/>
        </p:nvGrpSpPr>
        <p:grpSpPr>
          <a:xfrm>
            <a:off x="5149517" y="0"/>
            <a:ext cx="7042481" cy="6858000"/>
            <a:chOff x="1941097" y="0"/>
            <a:chExt cx="7477601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81E3BB5-4CF6-81BA-4785-E2C1522C7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1097" y="0"/>
              <a:ext cx="7443536" cy="209144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AA2028C-BC82-FD5A-5133-AD999005F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5162" y="2091449"/>
              <a:ext cx="7443536" cy="247253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D75773A-3B62-90E2-EBAC-AF05C4197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5162" y="4563978"/>
              <a:ext cx="7443535" cy="2294022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8867621-46B5-AF82-B93A-DDFC55FBE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335" y="3498"/>
            <a:ext cx="5021180" cy="20879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DA358C-4AA1-5CB9-B120-747B067375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67" y="2091450"/>
            <a:ext cx="5149516" cy="24725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5CE396-A606-76E2-8B7A-15EA42FBA1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6042" y="4528397"/>
            <a:ext cx="5245766" cy="233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32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4488" y="-160565"/>
            <a:ext cx="6757416" cy="649542"/>
          </a:xfrm>
        </p:spPr>
        <p:txBody>
          <a:bodyPr>
            <a:normAutofit/>
          </a:bodyPr>
          <a:lstStyle/>
          <a:p>
            <a:r>
              <a:rPr sz="3600" dirty="0"/>
              <a:t>1D Diffusion: Results &amp; Discussion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D7EC6A1-F667-3749-1F56-D4ACE7073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856" y="370106"/>
            <a:ext cx="9256776" cy="210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24E70B3-2297-85B9-0960-C44E84303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856" y="2478024"/>
            <a:ext cx="9256776" cy="219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58F92FB-D5B2-A28D-E6BD-EB3AB43C3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856" y="4668520"/>
            <a:ext cx="9256776" cy="218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86063" y="-296862"/>
            <a:ext cx="10972800" cy="1143000"/>
          </a:xfrm>
        </p:spPr>
        <p:txBody>
          <a:bodyPr>
            <a:normAutofit/>
          </a:bodyPr>
          <a:lstStyle/>
          <a:p>
            <a:r>
              <a:rPr dirty="0"/>
              <a:t>2D Diffusion: Mathematical Formulation</a:t>
            </a:r>
          </a:p>
        </p:txBody>
      </p:sp>
      <p:pic>
        <p:nvPicPr>
          <p:cNvPr id="3076" name="Picture 4" descr="2D grid">
            <a:extLst>
              <a:ext uri="{FF2B5EF4-FFF2-40B4-BE49-F238E27FC236}">
                <a16:creationId xmlns:a16="http://schemas.microsoft.com/office/drawing/2014/main" id="{05695457-0724-EC39-1A96-81B1F0E63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481" y="1099881"/>
            <a:ext cx="4844715" cy="401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173F17-C63A-5B2F-E997-A2910B781E9A}"/>
              </a:ext>
            </a:extLst>
          </p:cNvPr>
          <p:cNvSpPr txBox="1"/>
          <p:nvPr/>
        </p:nvSpPr>
        <p:spPr>
          <a:xfrm>
            <a:off x="305647" y="1007842"/>
            <a:ext cx="6186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Solving the 2D-diffusion equation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622045-CFE2-DC41-0D63-448BE9667187}"/>
                  </a:ext>
                </a:extLst>
              </p:cNvPr>
              <p:cNvSpPr txBox="1"/>
              <p:nvPr/>
            </p:nvSpPr>
            <p:spPr>
              <a:xfrm>
                <a:off x="336884" y="1649457"/>
                <a:ext cx="4975468" cy="2700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400" dirty="0"/>
              </a:p>
              <a:p>
                <a:r>
                  <a:rPr lang="en-IN" sz="2400" b="1" dirty="0"/>
                  <a:t>The Given Boundary Conditions are </a:t>
                </a:r>
                <a:r>
                  <a:rPr lang="en-IN" sz="2400" dirty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=100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sz="2000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I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Insulated boundaries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𝜕𝜙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IN" sz="2000" dirty="0"/>
                  <a:t> at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000" dirty="0"/>
                  <a:t> and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sz="20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622045-CFE2-DC41-0D63-448BE9667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84" y="1649457"/>
                <a:ext cx="4975468" cy="2700804"/>
              </a:xfrm>
              <a:prstGeom prst="rect">
                <a:avLst/>
              </a:prstGeom>
              <a:blipFill>
                <a:blip r:embed="rId3"/>
                <a:stretch>
                  <a:fillRect l="-1838" b="-22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1440F83-779C-885D-F4FD-3ED260DB6E4D}"/>
              </a:ext>
            </a:extLst>
          </p:cNvPr>
          <p:cNvSpPr txBox="1"/>
          <p:nvPr/>
        </p:nvSpPr>
        <p:spPr>
          <a:xfrm>
            <a:off x="262437" y="4378210"/>
            <a:ext cx="803709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Objectives: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To formulate using the Finite Difference Method.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To implement the iterative numerical solvers in </a:t>
            </a:r>
            <a:r>
              <a:rPr lang="en-IN" sz="2000" dirty="0" err="1"/>
              <a:t>PETSc</a:t>
            </a:r>
            <a:r>
              <a:rPr lang="en-IN" sz="2000" dirty="0"/>
              <a:t> to compare performance 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To analyse the effects of different grid resolutions on numerical solutions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TO visualize the steady-state results using contours and surface plots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8D7CDD-36A6-2048-2786-4E3A36DCEB78}"/>
                  </a:ext>
                </a:extLst>
              </p:cNvPr>
              <p:cNvSpPr txBox="1"/>
              <p:nvPr/>
            </p:nvSpPr>
            <p:spPr>
              <a:xfrm>
                <a:off x="5017826" y="2818159"/>
                <a:ext cx="2455381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=100 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8D7CDD-36A6-2048-2786-4E3A36DCE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826" y="2818159"/>
                <a:ext cx="2455381" cy="491417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D1EC292-5CEB-789C-FC16-6B050F242873}"/>
                  </a:ext>
                </a:extLst>
              </p:cNvPr>
              <p:cNvSpPr txBox="1"/>
              <p:nvPr/>
            </p:nvSpPr>
            <p:spPr>
              <a:xfrm>
                <a:off x="10304169" y="1835671"/>
                <a:ext cx="2455381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D1EC292-5CEB-789C-FC16-6B050F242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4169" y="1835671"/>
                <a:ext cx="2455381" cy="491417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Bent 14">
            <a:extLst>
              <a:ext uri="{FF2B5EF4-FFF2-40B4-BE49-F238E27FC236}">
                <a16:creationId xmlns:a16="http://schemas.microsoft.com/office/drawing/2014/main" id="{480944BB-2A43-1358-6E42-6154F53E8E68}"/>
              </a:ext>
            </a:extLst>
          </p:cNvPr>
          <p:cNvSpPr/>
          <p:nvPr/>
        </p:nvSpPr>
        <p:spPr>
          <a:xfrm flipV="1">
            <a:off x="6201640" y="3208133"/>
            <a:ext cx="1456519" cy="730490"/>
          </a:xfrm>
          <a:prstGeom prst="bentArrow">
            <a:avLst>
              <a:gd name="adj1" fmla="val 14392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Arrow: Bent 18">
            <a:extLst>
              <a:ext uri="{FF2B5EF4-FFF2-40B4-BE49-F238E27FC236}">
                <a16:creationId xmlns:a16="http://schemas.microsoft.com/office/drawing/2014/main" id="{31F8B806-F1DC-D4BF-B2A4-49839796533D}"/>
              </a:ext>
            </a:extLst>
          </p:cNvPr>
          <p:cNvSpPr/>
          <p:nvPr/>
        </p:nvSpPr>
        <p:spPr>
          <a:xfrm rot="10800000">
            <a:off x="10817817" y="2327086"/>
            <a:ext cx="986755" cy="1764466"/>
          </a:xfrm>
          <a:prstGeom prst="bentArrow">
            <a:avLst>
              <a:gd name="adj1" fmla="val 12435"/>
              <a:gd name="adj2" fmla="val 17147"/>
              <a:gd name="adj3" fmla="val 40706"/>
              <a:gd name="adj4" fmla="val 24366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38CEB7D-6927-27C3-CC78-C7247D2C3643}"/>
                  </a:ext>
                </a:extLst>
              </p:cNvPr>
              <p:cNvSpPr txBox="1"/>
              <p:nvPr/>
            </p:nvSpPr>
            <p:spPr>
              <a:xfrm>
                <a:off x="8865023" y="573439"/>
                <a:ext cx="2455381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𝜕𝜙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/>
                  <a:t> (insulated)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38CEB7D-6927-27C3-CC78-C7247D2C3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23" y="573439"/>
                <a:ext cx="2455381" cy="530530"/>
              </a:xfrm>
              <a:prstGeom prst="rect">
                <a:avLst/>
              </a:prstGeom>
              <a:blipFill>
                <a:blip r:embed="rId6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0F5A1D-1855-3CC8-6ECA-D9A4FF115037}"/>
                  </a:ext>
                </a:extLst>
              </p:cNvPr>
              <p:cNvSpPr txBox="1"/>
              <p:nvPr/>
            </p:nvSpPr>
            <p:spPr>
              <a:xfrm>
                <a:off x="9165317" y="5015216"/>
                <a:ext cx="1937288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𝜕𝜙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/>
                  <a:t> (insulated)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0F5A1D-1855-3CC8-6ECA-D9A4FF115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317" y="5015216"/>
                <a:ext cx="1937288" cy="530530"/>
              </a:xfrm>
              <a:prstGeom prst="rect">
                <a:avLst/>
              </a:prstGeom>
              <a:blipFill>
                <a:blip r:embed="rId7"/>
                <a:stretch>
                  <a:fillRect r="-1887" b="-45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Down 22">
            <a:extLst>
              <a:ext uri="{FF2B5EF4-FFF2-40B4-BE49-F238E27FC236}">
                <a16:creationId xmlns:a16="http://schemas.microsoft.com/office/drawing/2014/main" id="{CE096EAA-06F4-55E4-7F03-F5322C13F188}"/>
              </a:ext>
            </a:extLst>
          </p:cNvPr>
          <p:cNvSpPr/>
          <p:nvPr/>
        </p:nvSpPr>
        <p:spPr>
          <a:xfrm>
            <a:off x="9847978" y="1049380"/>
            <a:ext cx="338759" cy="491418"/>
          </a:xfrm>
          <a:prstGeom prst="downArrow">
            <a:avLst>
              <a:gd name="adj1" fmla="val 18272"/>
              <a:gd name="adj2" fmla="val 3611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4A35228-1B04-CE08-B15D-6826B4414C40}"/>
              </a:ext>
            </a:extLst>
          </p:cNvPr>
          <p:cNvSpPr/>
          <p:nvPr/>
        </p:nvSpPr>
        <p:spPr>
          <a:xfrm rot="10800000">
            <a:off x="10109011" y="4409205"/>
            <a:ext cx="338758" cy="738779"/>
          </a:xfrm>
          <a:prstGeom prst="downArrow">
            <a:avLst>
              <a:gd name="adj1" fmla="val 18272"/>
              <a:gd name="adj2" fmla="val 3611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46BE582B-2FBC-E76F-B8B7-6DD88E67C65A}"/>
              </a:ext>
            </a:extLst>
          </p:cNvPr>
          <p:cNvSpPr/>
          <p:nvPr/>
        </p:nvSpPr>
        <p:spPr>
          <a:xfrm>
            <a:off x="7966129" y="1866667"/>
            <a:ext cx="2676316" cy="2255881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12259" y="-35328"/>
            <a:ext cx="10972800" cy="1143000"/>
          </a:xfrm>
        </p:spPr>
        <p:txBody>
          <a:bodyPr>
            <a:normAutofit/>
          </a:bodyPr>
          <a:lstStyle/>
          <a:p>
            <a:r>
              <a:rPr sz="3600" dirty="0"/>
              <a:t>2D Diffusion: Numerical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63991B-6D4B-9BC3-9215-FDB0681190C8}"/>
                  </a:ext>
                </a:extLst>
              </p:cNvPr>
              <p:cNvSpPr txBox="1"/>
              <p:nvPr/>
            </p:nvSpPr>
            <p:spPr>
              <a:xfrm>
                <a:off x="340963" y="1107672"/>
                <a:ext cx="7237708" cy="2010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FDM Discretised equation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+1, 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63991B-6D4B-9BC3-9215-FDB068119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63" y="1107672"/>
                <a:ext cx="7237708" cy="2010743"/>
              </a:xfrm>
              <a:prstGeom prst="rect">
                <a:avLst/>
              </a:prstGeom>
              <a:blipFill>
                <a:blip r:embed="rId2"/>
                <a:stretch>
                  <a:fillRect l="-927" t="-1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FD0CF6-4D3A-113C-6967-53A1856F939C}"/>
                  </a:ext>
                </a:extLst>
              </p:cNvPr>
              <p:cNvSpPr txBox="1"/>
              <p:nvPr/>
            </p:nvSpPr>
            <p:spPr>
              <a:xfrm>
                <a:off x="340963" y="4067863"/>
                <a:ext cx="7051729" cy="859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+1, 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 ∆</m:t>
                          </m:r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FD0CF6-4D3A-113C-6967-53A1856F9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63" y="4067863"/>
                <a:ext cx="7051729" cy="8599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8A621D7-96DF-13A1-6120-3EDF00C007CE}"/>
              </a:ext>
            </a:extLst>
          </p:cNvPr>
          <p:cNvSpPr txBox="1"/>
          <p:nvPr/>
        </p:nvSpPr>
        <p:spPr>
          <a:xfrm>
            <a:off x="340963" y="3316637"/>
            <a:ext cx="64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Combining them leads to 5 point stencils of this expression  </a:t>
            </a:r>
          </a:p>
        </p:txBody>
      </p:sp>
      <p:pic>
        <p:nvPicPr>
          <p:cNvPr id="4098" name="Picture 2" descr="Retracted] A Comparison of Finite Difference and Finite Volume Methods with  Numerical Simulations: Burgers Equation Model - Ali - 2022 - Complexity -  Wiley Online Library">
            <a:extLst>
              <a:ext uri="{FF2B5EF4-FFF2-40B4-BE49-F238E27FC236}">
                <a16:creationId xmlns:a16="http://schemas.microsoft.com/office/drawing/2014/main" id="{EFCD6D1D-DFEF-1371-902F-DD7CD6132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601" y="30727"/>
            <a:ext cx="4204586" cy="368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70C616-2E64-CF88-0ECC-65838AAED7FD}"/>
              </a:ext>
            </a:extLst>
          </p:cNvPr>
          <p:cNvSpPr txBox="1"/>
          <p:nvPr/>
        </p:nvSpPr>
        <p:spPr>
          <a:xfrm>
            <a:off x="7806600" y="4050679"/>
            <a:ext cx="43853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For 5X5 grid points , we have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External grid or nodes are knows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Unknown internal grids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16 know grid points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9 unknows grid points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9 equations to be formed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748054-08D9-6C23-9A21-54FF9BB065DF}"/>
                  </a:ext>
                </a:extLst>
              </p:cNvPr>
              <p:cNvSpPr txBox="1"/>
              <p:nvPr/>
            </p:nvSpPr>
            <p:spPr>
              <a:xfrm>
                <a:off x="172753" y="5615744"/>
                <a:ext cx="7574127" cy="523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748054-08D9-6C23-9A21-54FF9BB06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53" y="5615744"/>
                <a:ext cx="7574127" cy="5230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Down 13">
            <a:extLst>
              <a:ext uri="{FF2B5EF4-FFF2-40B4-BE49-F238E27FC236}">
                <a16:creationId xmlns:a16="http://schemas.microsoft.com/office/drawing/2014/main" id="{7D8371AC-D992-0878-D361-5AE514887C97}"/>
              </a:ext>
            </a:extLst>
          </p:cNvPr>
          <p:cNvSpPr/>
          <p:nvPr/>
        </p:nvSpPr>
        <p:spPr>
          <a:xfrm>
            <a:off x="3541363" y="4804475"/>
            <a:ext cx="395206" cy="81126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12259" y="-35328"/>
            <a:ext cx="10972800" cy="1143000"/>
          </a:xfrm>
        </p:spPr>
        <p:txBody>
          <a:bodyPr>
            <a:normAutofit/>
          </a:bodyPr>
          <a:lstStyle/>
          <a:p>
            <a:r>
              <a:rPr sz="3600" dirty="0"/>
              <a:t>2D Diffusion: Numerical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83ADF3-C4BA-96E0-6CA6-BA3CB3112AD4}"/>
                  </a:ext>
                </a:extLst>
              </p:cNvPr>
              <p:cNvSpPr txBox="1"/>
              <p:nvPr/>
            </p:nvSpPr>
            <p:spPr>
              <a:xfrm>
                <a:off x="108488" y="764465"/>
                <a:ext cx="10027404" cy="3566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Which leads to the formation of matrix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9"/>
                                  <m:mcJc m:val="center"/>
                                </m:mcPr>
                              </m:mc>
                            </m:mcs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x-IV_matha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x-IV_matha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x-IV_mathan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x-IV_matha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x-IV_matha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p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1,0</m:t>
                                  </m:r>
                                </m:sub>
                              </m:sSub>
                              <m:r>
                                <a:rPr lang="x-IV_mathan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p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2,0</m:t>
                                  </m:r>
                                  <m: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p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3,0</m:t>
                                  </m:r>
                                </m:sub>
                              </m:sSub>
                              <m:r>
                                <a:rPr lang="x-IV_mathan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4,1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0,2</m:t>
                                  </m:r>
                                  <m: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4,2</m:t>
                                  </m:r>
                                  <m: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p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1,4</m:t>
                                  </m:r>
                                  <m: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0,3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p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2,4</m:t>
                                  </m:r>
                                  <m: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p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3,4</m:t>
                                  </m:r>
                                  <m: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4,3</m:t>
                                  </m:r>
                                  <m: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/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83ADF3-C4BA-96E0-6CA6-BA3CB3112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88" y="764465"/>
                <a:ext cx="10027404" cy="3566233"/>
              </a:xfrm>
              <a:prstGeom prst="rect">
                <a:avLst/>
              </a:prstGeom>
              <a:blipFill>
                <a:blip r:embed="rId2"/>
                <a:stretch>
                  <a:fillRect l="-669" t="-8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D4376AB-5481-17F1-6905-FB4B006303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49" t="15307"/>
          <a:stretch/>
        </p:blipFill>
        <p:spPr>
          <a:xfrm>
            <a:off x="8265113" y="3174898"/>
            <a:ext cx="3926887" cy="3566233"/>
          </a:xfrm>
          <a:prstGeom prst="rect">
            <a:avLst/>
          </a:prstGeom>
        </p:spPr>
      </p:pic>
      <p:pic>
        <p:nvPicPr>
          <p:cNvPr id="6146" name="Picture 2" descr="Pentadiagonal matrix structure resulting from the discretization of... |  Download Scientific Diagram">
            <a:extLst>
              <a:ext uri="{FF2B5EF4-FFF2-40B4-BE49-F238E27FC236}">
                <a16:creationId xmlns:a16="http://schemas.microsoft.com/office/drawing/2014/main" id="{5F2B2964-91EB-D5D2-1176-B9A2EA165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019" y="4541015"/>
            <a:ext cx="5223738" cy="2200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39255-F7F7-09DD-EED3-0EC3C41EA3BE}"/>
                  </a:ext>
                </a:extLst>
              </p:cNvPr>
              <p:cNvSpPr txBox="1"/>
              <p:nvPr/>
            </p:nvSpPr>
            <p:spPr>
              <a:xfrm>
                <a:off x="8726752" y="671392"/>
                <a:ext cx="3653084" cy="2206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Where</a:t>
                </a:r>
              </a:p>
              <a:p>
                <a:endParaRPr lang="en-I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000" dirty="0"/>
              </a:p>
              <a:p>
                <a:r>
                  <a:rPr lang="en-IN" sz="2000" dirty="0"/>
                  <a:t>And </a:t>
                </a:r>
              </a:p>
              <a:p>
                <a:r>
                  <a:rPr lang="en-IN" sz="2000" dirty="0"/>
                  <a:t>	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IN" sz="2400" dirty="0"/>
              </a:p>
              <a:p>
                <a:r>
                  <a:rPr lang="en-IN" sz="2000" dirty="0"/>
                  <a:t>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39255-F7F7-09DD-EED3-0EC3C41EA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752" y="671392"/>
                <a:ext cx="3653084" cy="2206181"/>
              </a:xfrm>
              <a:prstGeom prst="rect">
                <a:avLst/>
              </a:prstGeom>
              <a:blipFill>
                <a:blip r:embed="rId5"/>
                <a:stretch>
                  <a:fillRect l="-1836" t="-1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736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1E318-A3CC-205B-DA68-1F472C038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50106" y="-176629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dirty="0" err="1"/>
              <a:t>PETSc</a:t>
            </a:r>
            <a:r>
              <a:rPr lang="en-US" sz="3600" dirty="0"/>
              <a:t> Workflow </a:t>
            </a:r>
            <a:endParaRPr lang="en-IN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E8741D-86B5-B14A-A82C-0BA69B246D46}"/>
              </a:ext>
            </a:extLst>
          </p:cNvPr>
          <p:cNvSpPr/>
          <p:nvPr/>
        </p:nvSpPr>
        <p:spPr>
          <a:xfrm>
            <a:off x="3082415" y="850234"/>
            <a:ext cx="3304674" cy="898358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ADB22E-50A1-CDE8-BFCD-B9DBCA4733D0}"/>
              </a:ext>
            </a:extLst>
          </p:cNvPr>
          <p:cNvSpPr/>
          <p:nvPr/>
        </p:nvSpPr>
        <p:spPr>
          <a:xfrm>
            <a:off x="3082415" y="1808917"/>
            <a:ext cx="3304674" cy="89835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0B8FFB-FE0A-A1E4-9EEC-639786285180}"/>
              </a:ext>
            </a:extLst>
          </p:cNvPr>
          <p:cNvSpPr/>
          <p:nvPr/>
        </p:nvSpPr>
        <p:spPr>
          <a:xfrm>
            <a:off x="3082415" y="2803198"/>
            <a:ext cx="3304674" cy="89835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365B9C-EC99-7B4D-516A-51EE0BAEC754}"/>
              </a:ext>
            </a:extLst>
          </p:cNvPr>
          <p:cNvSpPr/>
          <p:nvPr/>
        </p:nvSpPr>
        <p:spPr>
          <a:xfrm>
            <a:off x="3082414" y="3797475"/>
            <a:ext cx="3304675" cy="89835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02F022-9749-92C9-D219-C92298A4C9CA}"/>
              </a:ext>
            </a:extLst>
          </p:cNvPr>
          <p:cNvSpPr/>
          <p:nvPr/>
        </p:nvSpPr>
        <p:spPr>
          <a:xfrm>
            <a:off x="3082415" y="4807797"/>
            <a:ext cx="3304674" cy="898358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86D8FB-88EB-CAB5-3401-C5C278BDCA71}"/>
              </a:ext>
            </a:extLst>
          </p:cNvPr>
          <p:cNvSpPr txBox="1"/>
          <p:nvPr/>
        </p:nvSpPr>
        <p:spPr>
          <a:xfrm>
            <a:off x="3290962" y="1114747"/>
            <a:ext cx="2807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1. Setup Grid 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E79A1C-2BD3-2185-F71F-8F1CA17B3800}"/>
              </a:ext>
            </a:extLst>
          </p:cNvPr>
          <p:cNvSpPr txBox="1"/>
          <p:nvPr/>
        </p:nvSpPr>
        <p:spPr>
          <a:xfrm>
            <a:off x="3290962" y="2069432"/>
            <a:ext cx="2951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2. Assemble Matrix (A)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A0B837-2CD4-A8D9-362C-8B1C27DEF95D}"/>
              </a:ext>
            </a:extLst>
          </p:cNvPr>
          <p:cNvSpPr txBox="1"/>
          <p:nvPr/>
        </p:nvSpPr>
        <p:spPr>
          <a:xfrm>
            <a:off x="3258877" y="3005811"/>
            <a:ext cx="2951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3. Assemble Vectors (b)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B5BADA-8C86-61D8-7A19-F8A633C61CB7}"/>
              </a:ext>
            </a:extLst>
          </p:cNvPr>
          <p:cNvSpPr txBox="1"/>
          <p:nvPr/>
        </p:nvSpPr>
        <p:spPr>
          <a:xfrm>
            <a:off x="3290962" y="3962400"/>
            <a:ext cx="2807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4. Set KSP solver and Preconditioner 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1DF0B8-41C3-9FB0-42A1-9F0F688041E0}"/>
              </a:ext>
            </a:extLst>
          </p:cNvPr>
          <p:cNvSpPr txBox="1"/>
          <p:nvPr/>
        </p:nvSpPr>
        <p:spPr>
          <a:xfrm>
            <a:off x="3290962" y="4973053"/>
            <a:ext cx="2807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5. Solve and save file 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Callout: Right Arrow 15">
            <a:extLst>
              <a:ext uri="{FF2B5EF4-FFF2-40B4-BE49-F238E27FC236}">
                <a16:creationId xmlns:a16="http://schemas.microsoft.com/office/drawing/2014/main" id="{1F44CF78-70A5-489B-804F-58340363D83A}"/>
              </a:ext>
            </a:extLst>
          </p:cNvPr>
          <p:cNvSpPr/>
          <p:nvPr/>
        </p:nvSpPr>
        <p:spPr>
          <a:xfrm>
            <a:off x="66499" y="850234"/>
            <a:ext cx="3047999" cy="4855921"/>
          </a:xfrm>
          <a:prstGeom prst="rightArrowCallout">
            <a:avLst>
              <a:gd name="adj1" fmla="val 12478"/>
              <a:gd name="adj2" fmla="val 10417"/>
              <a:gd name="adj3" fmla="val 10449"/>
              <a:gd name="adj4" fmla="val 8144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8EB600-BC68-8BF0-33A4-0AE5B4266D70}"/>
              </a:ext>
            </a:extLst>
          </p:cNvPr>
          <p:cNvSpPr txBox="1"/>
          <p:nvPr/>
        </p:nvSpPr>
        <p:spPr>
          <a:xfrm>
            <a:off x="66499" y="2645636"/>
            <a:ext cx="23501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mpirun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–np 20 ./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petsc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Nx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= [5, 10, 20, 40, 80, 100, 250 ]</a:t>
            </a:r>
          </a:p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Nx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= Ny 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CDE569-0377-9D5B-E51C-84C47171CF81}"/>
              </a:ext>
            </a:extLst>
          </p:cNvPr>
          <p:cNvSpPr txBox="1"/>
          <p:nvPr/>
        </p:nvSpPr>
        <p:spPr>
          <a:xfrm>
            <a:off x="66499" y="966371"/>
            <a:ext cx="242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Bash script </a:t>
            </a:r>
            <a:endParaRPr lang="en-IN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EB52534-F09F-64AC-1489-5175CE6EC960}"/>
              </a:ext>
            </a:extLst>
          </p:cNvPr>
          <p:cNvSpPr/>
          <p:nvPr/>
        </p:nvSpPr>
        <p:spPr>
          <a:xfrm>
            <a:off x="7550218" y="966371"/>
            <a:ext cx="1973179" cy="78222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0432ECF-3D4F-C53B-A77A-FB5F15E042EF}"/>
              </a:ext>
            </a:extLst>
          </p:cNvPr>
          <p:cNvSpPr/>
          <p:nvPr/>
        </p:nvSpPr>
        <p:spPr>
          <a:xfrm>
            <a:off x="7542815" y="2020977"/>
            <a:ext cx="1973179" cy="78222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C8CDF9-0960-B291-9976-5457ED1D03A0}"/>
              </a:ext>
            </a:extLst>
          </p:cNvPr>
          <p:cNvSpPr/>
          <p:nvPr/>
        </p:nvSpPr>
        <p:spPr>
          <a:xfrm>
            <a:off x="7542816" y="4809555"/>
            <a:ext cx="1973179" cy="78222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2094A36-E2EA-BDD4-9E15-25FC797DBE35}"/>
              </a:ext>
            </a:extLst>
          </p:cNvPr>
          <p:cNvSpPr/>
          <p:nvPr/>
        </p:nvSpPr>
        <p:spPr>
          <a:xfrm rot="2659729">
            <a:off x="6838446" y="1576804"/>
            <a:ext cx="379514" cy="1574209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D8762EEF-821E-EBEB-EC8B-44A00519F2C3}"/>
              </a:ext>
            </a:extLst>
          </p:cNvPr>
          <p:cNvSpPr/>
          <p:nvPr/>
        </p:nvSpPr>
        <p:spPr>
          <a:xfrm rot="3431801">
            <a:off x="6791987" y="2385287"/>
            <a:ext cx="574664" cy="1367172"/>
          </a:xfrm>
          <a:prstGeom prst="upArrow">
            <a:avLst>
              <a:gd name="adj1" fmla="val 29102"/>
              <a:gd name="adj2" fmla="val 45696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B63E7580-D855-4FC1-7CFC-45FC1CE7AC60}"/>
              </a:ext>
            </a:extLst>
          </p:cNvPr>
          <p:cNvSpPr/>
          <p:nvPr/>
        </p:nvSpPr>
        <p:spPr>
          <a:xfrm rot="8019635">
            <a:off x="6831620" y="3656445"/>
            <a:ext cx="337314" cy="1508678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4C589F-BCB5-44C4-7565-BCFD0DD1113B}"/>
              </a:ext>
            </a:extLst>
          </p:cNvPr>
          <p:cNvSpPr txBox="1"/>
          <p:nvPr/>
        </p:nvSpPr>
        <p:spPr>
          <a:xfrm>
            <a:off x="7597575" y="1194310"/>
            <a:ext cx="1736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Perfromance.log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B4DADB-39AE-5801-3904-E19F0C379B5E}"/>
              </a:ext>
            </a:extLst>
          </p:cNvPr>
          <p:cNvSpPr txBox="1"/>
          <p:nvPr/>
        </p:nvSpPr>
        <p:spPr>
          <a:xfrm>
            <a:off x="7690306" y="2248369"/>
            <a:ext cx="168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Result_5X5.txt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3D89BE-DF09-5835-7D61-92BB090E4CD9}"/>
              </a:ext>
            </a:extLst>
          </p:cNvPr>
          <p:cNvSpPr txBox="1"/>
          <p:nvPr/>
        </p:nvSpPr>
        <p:spPr>
          <a:xfrm>
            <a:off x="7531302" y="5029189"/>
            <a:ext cx="212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Result_250X250.txt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5D95B0-4B53-D482-E3FA-3A7A2AF0CB40}"/>
              </a:ext>
            </a:extLst>
          </p:cNvPr>
          <p:cNvSpPr txBox="1"/>
          <p:nvPr/>
        </p:nvSpPr>
        <p:spPr>
          <a:xfrm rot="5400000">
            <a:off x="7796335" y="3705714"/>
            <a:ext cx="1907174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4400" dirty="0"/>
              <a:t>…  … .</a:t>
            </a:r>
            <a:endParaRPr lang="en-IN" sz="4400" dirty="0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D1C38027-C4FA-E4FA-63DA-191F101E1E0B}"/>
              </a:ext>
            </a:extLst>
          </p:cNvPr>
          <p:cNvSpPr/>
          <p:nvPr/>
        </p:nvSpPr>
        <p:spPr>
          <a:xfrm>
            <a:off x="9614510" y="1227981"/>
            <a:ext cx="636362" cy="43637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C6C253-4A50-AEE4-3479-05F9BB161F7E}"/>
              </a:ext>
            </a:extLst>
          </p:cNvPr>
          <p:cNvSpPr/>
          <p:nvPr/>
        </p:nvSpPr>
        <p:spPr>
          <a:xfrm>
            <a:off x="9845336" y="213064"/>
            <a:ext cx="2213889" cy="6371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D20F32-E2BE-BE97-C73C-EEA2D2FE14F8}"/>
              </a:ext>
            </a:extLst>
          </p:cNvPr>
          <p:cNvSpPr txBox="1"/>
          <p:nvPr/>
        </p:nvSpPr>
        <p:spPr>
          <a:xfrm>
            <a:off x="10005134" y="328474"/>
            <a:ext cx="2054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Visualization 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6AAA2A-771C-E547-241C-5C4131171E71}"/>
              </a:ext>
            </a:extLst>
          </p:cNvPr>
          <p:cNvSpPr txBox="1"/>
          <p:nvPr/>
        </p:nvSpPr>
        <p:spPr>
          <a:xfrm>
            <a:off x="3531126" y="415144"/>
            <a:ext cx="2564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petsc.cpp</a:t>
            </a:r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794DA39-F85F-2894-3EF8-561B83F3D809}"/>
              </a:ext>
            </a:extLst>
          </p:cNvPr>
          <p:cNvSpPr/>
          <p:nvPr/>
        </p:nvSpPr>
        <p:spPr>
          <a:xfrm>
            <a:off x="2844191" y="697806"/>
            <a:ext cx="3778551" cy="5188089"/>
          </a:xfrm>
          <a:prstGeom prst="roundRect">
            <a:avLst>
              <a:gd name="adj" fmla="val 8209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 descr="A graph of a color spectrum&#10;&#10;AI-generated content may be incorrect.">
            <a:extLst>
              <a:ext uri="{FF2B5EF4-FFF2-40B4-BE49-F238E27FC236}">
                <a16:creationId xmlns:a16="http://schemas.microsoft.com/office/drawing/2014/main" id="{030C62A0-9D88-488B-C9EB-1D5C6623E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1706" y="1688533"/>
            <a:ext cx="2213889" cy="1556150"/>
          </a:xfrm>
          <a:prstGeom prst="rect">
            <a:avLst/>
          </a:prstGeom>
        </p:spPr>
      </p:pic>
      <p:pic>
        <p:nvPicPr>
          <p:cNvPr id="38" name="Picture 37" descr="A chart of a graph&#10;&#10;AI-generated content may be incorrect.">
            <a:extLst>
              <a:ext uri="{FF2B5EF4-FFF2-40B4-BE49-F238E27FC236}">
                <a16:creationId xmlns:a16="http://schemas.microsoft.com/office/drawing/2014/main" id="{7F832319-71A1-A6CE-3D8A-309B51E07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393" y="3758681"/>
            <a:ext cx="2031035" cy="163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419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A95B-5BDA-A93F-B407-2A7769961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04956" y="0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Solvers and Preconditioners used</a:t>
            </a:r>
            <a:endParaRPr lang="en-IN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898A4A-DD01-26D1-6125-9C2E0CD145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4228491"/>
              </p:ext>
            </p:extLst>
          </p:nvPr>
        </p:nvGraphicFramePr>
        <p:xfrm>
          <a:off x="619957" y="1071976"/>
          <a:ext cx="10952085" cy="5562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50889">
                  <a:extLst>
                    <a:ext uri="{9D8B030D-6E8A-4147-A177-3AD203B41FA5}">
                      <a16:colId xmlns:a16="http://schemas.microsoft.com/office/drawing/2014/main" val="2534554213"/>
                    </a:ext>
                  </a:extLst>
                </a:gridCol>
                <a:gridCol w="5501196">
                  <a:extLst>
                    <a:ext uri="{9D8B030D-6E8A-4147-A177-3AD203B41FA5}">
                      <a16:colId xmlns:a16="http://schemas.microsoft.com/office/drawing/2014/main" val="1049532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Solver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Preconditioner 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144684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6394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Bjacobi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824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71396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GAMG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591912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GMRES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027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Bjacobi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51142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4101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GAMG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71715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MINRES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628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GAMG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89242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FCG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496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Bjacobi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6054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Chebyshev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82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Jacobi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49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319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8358" y="-14120"/>
            <a:ext cx="10972800" cy="1143000"/>
          </a:xfrm>
        </p:spPr>
        <p:txBody>
          <a:bodyPr/>
          <a:lstStyle/>
          <a:p>
            <a:r>
              <a:rPr dirty="0"/>
              <a:t>2D Diffusion: Results &amp; Discussion</a:t>
            </a:r>
          </a:p>
        </p:txBody>
      </p:sp>
      <p:pic>
        <p:nvPicPr>
          <p:cNvPr id="6" name="Picture 5" descr="A group of different colored squares&#10;&#10;AI-generated content may be incorrect.">
            <a:extLst>
              <a:ext uri="{FF2B5EF4-FFF2-40B4-BE49-F238E27FC236}">
                <a16:creationId xmlns:a16="http://schemas.microsoft.com/office/drawing/2014/main" id="{582E3483-D749-6A7A-B9EB-7FE0D6097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5204"/>
            <a:ext cx="12192000" cy="2786743"/>
          </a:xfrm>
          <a:prstGeom prst="rect">
            <a:avLst/>
          </a:prstGeom>
        </p:spPr>
      </p:pic>
      <p:pic>
        <p:nvPicPr>
          <p:cNvPr id="7" name="Picture 6" descr="A group of colorful objects&#10;&#10;AI-generated content may be incorrect.">
            <a:extLst>
              <a:ext uri="{FF2B5EF4-FFF2-40B4-BE49-F238E27FC236}">
                <a16:creationId xmlns:a16="http://schemas.microsoft.com/office/drawing/2014/main" id="{710D6EDB-7406-B8BF-5C4F-5F7E58A79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1947"/>
            <a:ext cx="12192000" cy="27867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8358" y="-14120"/>
            <a:ext cx="10972800" cy="1143000"/>
          </a:xfrm>
        </p:spPr>
        <p:txBody>
          <a:bodyPr/>
          <a:lstStyle/>
          <a:p>
            <a:r>
              <a:rPr dirty="0"/>
              <a:t>2D Diffusion: Results &amp; Discussion</a:t>
            </a:r>
          </a:p>
        </p:txBody>
      </p:sp>
      <p:pic>
        <p:nvPicPr>
          <p:cNvPr id="3" name="Picture 2" descr="A group of different colored squares&#10;&#10;AI-generated content may be incorrect.">
            <a:extLst>
              <a:ext uri="{FF2B5EF4-FFF2-40B4-BE49-F238E27FC236}">
                <a16:creationId xmlns:a16="http://schemas.microsoft.com/office/drawing/2014/main" id="{E8C612DF-8404-1BFE-0FC1-4C481E6A1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011" y="839497"/>
            <a:ext cx="12192000" cy="2786743"/>
          </a:xfrm>
          <a:prstGeom prst="rect">
            <a:avLst/>
          </a:prstGeom>
        </p:spPr>
      </p:pic>
      <p:pic>
        <p:nvPicPr>
          <p:cNvPr id="4" name="Picture 3" descr="A group of different colored squares&#10;&#10;AI-generated content may be incorrect.">
            <a:extLst>
              <a:ext uri="{FF2B5EF4-FFF2-40B4-BE49-F238E27FC236}">
                <a16:creationId xmlns:a16="http://schemas.microsoft.com/office/drawing/2014/main" id="{77689413-3F5C-9332-AA30-58722445E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011" y="3626240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06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8358" y="-14120"/>
            <a:ext cx="10972800" cy="1143000"/>
          </a:xfrm>
        </p:spPr>
        <p:txBody>
          <a:bodyPr/>
          <a:lstStyle/>
          <a:p>
            <a:r>
              <a:rPr dirty="0"/>
              <a:t>2D Diffusion: Results &amp; Discussion</a:t>
            </a:r>
          </a:p>
        </p:txBody>
      </p:sp>
      <p:pic>
        <p:nvPicPr>
          <p:cNvPr id="5" name="Picture 4" descr="A group of squares with different colors&#10;&#10;AI-generated content may be incorrect.">
            <a:extLst>
              <a:ext uri="{FF2B5EF4-FFF2-40B4-BE49-F238E27FC236}">
                <a16:creationId xmlns:a16="http://schemas.microsoft.com/office/drawing/2014/main" id="{6E77CA1C-DC74-BD90-CDF6-BFADB5082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2217"/>
            <a:ext cx="12192000" cy="2786743"/>
          </a:xfrm>
          <a:prstGeom prst="rect">
            <a:avLst/>
          </a:prstGeom>
        </p:spPr>
      </p:pic>
      <p:pic>
        <p:nvPicPr>
          <p:cNvPr id="6" name="Picture 5" descr="A diagram of different colored cubes&#10;&#10;AI-generated content may be incorrect.">
            <a:extLst>
              <a:ext uri="{FF2B5EF4-FFF2-40B4-BE49-F238E27FC236}">
                <a16:creationId xmlns:a16="http://schemas.microsoft.com/office/drawing/2014/main" id="{A68E789F-28A8-8429-1F75-FAF1BAE389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78960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7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8358" y="-14120"/>
            <a:ext cx="10972800" cy="1143000"/>
          </a:xfrm>
        </p:spPr>
        <p:txBody>
          <a:bodyPr/>
          <a:lstStyle/>
          <a:p>
            <a:r>
              <a:rPr dirty="0"/>
              <a:t>2D Diffusion: Results &amp; Discussion</a:t>
            </a:r>
          </a:p>
        </p:txBody>
      </p:sp>
      <p:pic>
        <p:nvPicPr>
          <p:cNvPr id="5" name="Picture 4" descr="A group of different colors&#10;&#10;AI-generated content may be incorrect.">
            <a:extLst>
              <a:ext uri="{FF2B5EF4-FFF2-40B4-BE49-F238E27FC236}">
                <a16:creationId xmlns:a16="http://schemas.microsoft.com/office/drawing/2014/main" id="{BF125559-5FBB-99C6-6DDE-D43B66F55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0484"/>
            <a:ext cx="12192000" cy="2786743"/>
          </a:xfrm>
          <a:prstGeom prst="rect">
            <a:avLst/>
          </a:prstGeom>
        </p:spPr>
      </p:pic>
      <p:pic>
        <p:nvPicPr>
          <p:cNvPr id="6" name="Picture 5" descr="A group of colorful cubes&#10;&#10;AI-generated content may be incorrect.">
            <a:extLst>
              <a:ext uri="{FF2B5EF4-FFF2-40B4-BE49-F238E27FC236}">
                <a16:creationId xmlns:a16="http://schemas.microsoft.com/office/drawing/2014/main" id="{EBE48CBC-D56F-A9B0-4878-4852851DD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57227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43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8358" y="-14120"/>
            <a:ext cx="10972800" cy="1143000"/>
          </a:xfrm>
        </p:spPr>
        <p:txBody>
          <a:bodyPr/>
          <a:lstStyle/>
          <a:p>
            <a:r>
              <a:rPr dirty="0"/>
              <a:t>2D Diffusion: Results &amp; Discussion</a:t>
            </a:r>
          </a:p>
        </p:txBody>
      </p:sp>
      <p:pic>
        <p:nvPicPr>
          <p:cNvPr id="5" name="Picture 4" descr="A close-up of different colors&#10;&#10;AI-generated content may be incorrect.">
            <a:extLst>
              <a:ext uri="{FF2B5EF4-FFF2-40B4-BE49-F238E27FC236}">
                <a16:creationId xmlns:a16="http://schemas.microsoft.com/office/drawing/2014/main" id="{08EB098D-B62D-A7B8-C8E7-ED36534C2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0267"/>
            <a:ext cx="12192000" cy="2786743"/>
          </a:xfrm>
          <a:prstGeom prst="rect">
            <a:avLst/>
          </a:prstGeom>
        </p:spPr>
      </p:pic>
      <p:pic>
        <p:nvPicPr>
          <p:cNvPr id="6" name="Picture 5" descr="A group of cubes with different colors&#10;&#10;AI-generated content may be incorrect.">
            <a:extLst>
              <a:ext uri="{FF2B5EF4-FFF2-40B4-BE49-F238E27FC236}">
                <a16:creationId xmlns:a16="http://schemas.microsoft.com/office/drawing/2014/main" id="{1BB2F5CD-5B9E-DD82-3748-3D7F7BDA9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7010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32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8358" y="-14120"/>
            <a:ext cx="10972800" cy="1143000"/>
          </a:xfrm>
        </p:spPr>
        <p:txBody>
          <a:bodyPr/>
          <a:lstStyle/>
          <a:p>
            <a:r>
              <a:rPr dirty="0"/>
              <a:t>2D Diffusion: Results &amp; Discussion</a:t>
            </a:r>
          </a:p>
        </p:txBody>
      </p:sp>
      <p:pic>
        <p:nvPicPr>
          <p:cNvPr id="5" name="Picture 4" descr="A close-up of different colors&#10;&#10;AI-generated content may be incorrect.">
            <a:extLst>
              <a:ext uri="{FF2B5EF4-FFF2-40B4-BE49-F238E27FC236}">
                <a16:creationId xmlns:a16="http://schemas.microsoft.com/office/drawing/2014/main" id="{3491C421-3F96-1A6B-759E-4964F96D4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0269"/>
            <a:ext cx="12192000" cy="2786743"/>
          </a:xfrm>
          <a:prstGeom prst="rect">
            <a:avLst/>
          </a:prstGeom>
        </p:spPr>
      </p:pic>
      <p:pic>
        <p:nvPicPr>
          <p:cNvPr id="6" name="Picture 5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C05D32F8-9A1D-6EFF-715D-04B4D0B75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40529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36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8358" y="-14120"/>
            <a:ext cx="10972800" cy="1143000"/>
          </a:xfrm>
        </p:spPr>
        <p:txBody>
          <a:bodyPr/>
          <a:lstStyle/>
          <a:p>
            <a:r>
              <a:rPr dirty="0"/>
              <a:t>2D Diffusion: Results &amp; Discussion</a:t>
            </a:r>
          </a:p>
        </p:txBody>
      </p:sp>
      <p:pic>
        <p:nvPicPr>
          <p:cNvPr id="5" name="Picture 4" descr="A group of different colors of squares&#10;&#10;AI-generated content may be incorrect.">
            <a:extLst>
              <a:ext uri="{FF2B5EF4-FFF2-40B4-BE49-F238E27FC236}">
                <a16:creationId xmlns:a16="http://schemas.microsoft.com/office/drawing/2014/main" id="{4FC5CAF1-9316-E03C-390F-A55AE175F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8508"/>
            <a:ext cx="12192000" cy="2786743"/>
          </a:xfrm>
          <a:prstGeom prst="rect">
            <a:avLst/>
          </a:prstGeom>
        </p:spPr>
      </p:pic>
      <p:pic>
        <p:nvPicPr>
          <p:cNvPr id="6" name="Picture 5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F9842C56-EE30-EF68-8E05-4A1B234E3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95251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57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82C6-32E2-A9C0-C320-803C554C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96991" y="-223082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dirty="0"/>
              <a:t>Performance Analysis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4CDCFE9-15EE-7E71-95A4-0A307849A6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328172"/>
              </p:ext>
            </p:extLst>
          </p:nvPr>
        </p:nvGraphicFramePr>
        <p:xfrm>
          <a:off x="161169" y="557520"/>
          <a:ext cx="3709494" cy="286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667169" imgH="2867035" progId="Excel.Sheet.12">
                  <p:embed/>
                </p:oleObj>
              </mc:Choice>
              <mc:Fallback>
                <p:oleObj name="Worksheet" r:id="rId2" imgW="3667169" imgH="28670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1169" y="557520"/>
                        <a:ext cx="3709494" cy="286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B09015D-F92B-9FE3-0452-BC38FC4FE1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303489"/>
              </p:ext>
            </p:extLst>
          </p:nvPr>
        </p:nvGraphicFramePr>
        <p:xfrm>
          <a:off x="187325" y="3417888"/>
          <a:ext cx="3667125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667169" imgH="2676752" progId="Excel.Sheet.12">
                  <p:embed/>
                </p:oleObj>
              </mc:Choice>
              <mc:Fallback>
                <p:oleObj name="Worksheet" r:id="rId4" imgW="3667169" imgH="267675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7325" y="3417888"/>
                        <a:ext cx="3667125" cy="289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B2D8D3A-0483-2FFD-CD78-26AC6E9D4F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506905"/>
              </p:ext>
            </p:extLst>
          </p:nvPr>
        </p:nvGraphicFramePr>
        <p:xfrm>
          <a:off x="3880606" y="557520"/>
          <a:ext cx="3667125" cy="286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667169" imgH="2867035" progId="Excel.Sheet.12">
                  <p:embed/>
                </p:oleObj>
              </mc:Choice>
              <mc:Fallback>
                <p:oleObj name="Worksheet" r:id="rId6" imgW="3667169" imgH="28670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80606" y="557520"/>
                        <a:ext cx="3667125" cy="286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A0D757A-6840-675D-E611-7286EE50AE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582826"/>
              </p:ext>
            </p:extLst>
          </p:nvPr>
        </p:nvGraphicFramePr>
        <p:xfrm>
          <a:off x="3880606" y="3427476"/>
          <a:ext cx="3667125" cy="288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3667169" imgH="2676752" progId="Excel.Sheet.12">
                  <p:embed/>
                </p:oleObj>
              </mc:Choice>
              <mc:Fallback>
                <p:oleObj name="Worksheet" r:id="rId8" imgW="3667169" imgH="267675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80606" y="3427476"/>
                        <a:ext cx="3667125" cy="2886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097F449E-1916-E54F-07E2-4B73BB5EE8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755068"/>
              </p:ext>
            </p:extLst>
          </p:nvPr>
        </p:nvGraphicFramePr>
        <p:xfrm>
          <a:off x="7573963" y="538163"/>
          <a:ext cx="3667125" cy="286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0" imgW="3667169" imgH="2867035" progId="Excel.Sheet.12">
                  <p:embed/>
                </p:oleObj>
              </mc:Choice>
              <mc:Fallback>
                <p:oleObj name="Worksheet" r:id="rId10" imgW="3667169" imgH="28670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573963" y="538163"/>
                        <a:ext cx="3667125" cy="286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5C3040EA-1828-0048-729B-C812B17E58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526626"/>
              </p:ext>
            </p:extLst>
          </p:nvPr>
        </p:nvGraphicFramePr>
        <p:xfrm>
          <a:off x="7573887" y="3426179"/>
          <a:ext cx="3667125" cy="286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2" imgW="3667169" imgH="2676752" progId="Excel.Sheet.12">
                  <p:embed/>
                </p:oleObj>
              </mc:Choice>
              <mc:Fallback>
                <p:oleObj name="Worksheet" r:id="rId12" imgW="3667169" imgH="267675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573887" y="3426179"/>
                        <a:ext cx="3667125" cy="286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3194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82C6-32E2-A9C0-C320-803C554C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96991" y="-223082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dirty="0"/>
              <a:t>Performance Analysis </a:t>
            </a: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A6256169-48BD-5100-742F-DECA3E269E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998268"/>
              </p:ext>
            </p:extLst>
          </p:nvPr>
        </p:nvGraphicFramePr>
        <p:xfrm>
          <a:off x="186433" y="759565"/>
          <a:ext cx="5909567" cy="5738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667169" imgH="2867035" progId="Excel.Sheet.12">
                  <p:embed/>
                </p:oleObj>
              </mc:Choice>
              <mc:Fallback>
                <p:oleObj name="Worksheet" r:id="rId2" imgW="3667169" imgH="28670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6433" y="759565"/>
                        <a:ext cx="5909567" cy="57388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6" descr="A graph with colorful lines and numbers&#10;&#10;AI-generated content may be incorrect.">
            <a:extLst>
              <a:ext uri="{FF2B5EF4-FFF2-40B4-BE49-F238E27FC236}">
                <a16:creationId xmlns:a16="http://schemas.microsoft.com/office/drawing/2014/main" id="{39671EE4-DDCE-3303-6B87-EEB4D7FE9F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3" r="20714"/>
          <a:stretch/>
        </p:blipFill>
        <p:spPr>
          <a:xfrm>
            <a:off x="7260395" y="84338"/>
            <a:ext cx="4320479" cy="3530537"/>
          </a:xfrm>
          <a:prstGeom prst="rect">
            <a:avLst/>
          </a:prstGeom>
        </p:spPr>
      </p:pic>
      <p:pic>
        <p:nvPicPr>
          <p:cNvPr id="21" name="Picture 20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4EF9A607-AE9A-CF51-7F23-070B649249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2" r="21376"/>
          <a:stretch/>
        </p:blipFill>
        <p:spPr>
          <a:xfrm>
            <a:off x="7375809" y="3429000"/>
            <a:ext cx="4225771" cy="32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249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5" y="-1407"/>
            <a:ext cx="10972800" cy="1143000"/>
          </a:xfrm>
        </p:spPr>
        <p:txBody>
          <a:bodyPr/>
          <a:lstStyle/>
          <a:p>
            <a:r>
              <a:rPr dirty="0"/>
              <a:t>Conclusion &amp; Learning Outcomes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201752"/>
                <a:ext cx="10972800" cy="452596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IN" dirty="0"/>
                  <a:t>FDM, FEM and FVM results closely match the exact solution across all grid sizes. </a:t>
                </a:r>
              </a:p>
              <a:p>
                <a:r>
                  <a:rPr lang="en-IN" dirty="0"/>
                  <a:t>Residuals remains very low (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−12</m:t>
                        </m:r>
                      </m:sup>
                    </m:sSup>
                  </m:oMath>
                </a14:m>
                <a:r>
                  <a:rPr lang="en-IN" dirty="0"/>
                  <a:t>) which shows good solver convergence</a:t>
                </a:r>
              </a:p>
              <a:p>
                <a:r>
                  <a:rPr lang="en-IN" dirty="0"/>
                  <a:t>Minor residual rise at finer grids is due to accumulated round-off errors. </a:t>
                </a:r>
              </a:p>
              <a:p>
                <a:r>
                  <a:rPr lang="en-IN" dirty="0"/>
                  <a:t>GMRES: Most accurate and robust solver; converged consistently across all gris sizes with ASM or GAMG preconditioners . </a:t>
                </a:r>
              </a:p>
              <a:p>
                <a:r>
                  <a:rPr lang="en-IN" dirty="0"/>
                  <a:t>CG: Fast for course grid but unstable and inaccurate for finer meshes </a:t>
                </a:r>
              </a:p>
              <a:p>
                <a:r>
                  <a:rPr lang="en-IN" dirty="0"/>
                  <a:t>Chebyshev: Stable only for small grids; diverged for higher resolution </a:t>
                </a:r>
              </a:p>
              <a:p>
                <a:r>
                  <a:rPr lang="en-IN" dirty="0"/>
                  <a:t>FCG: Poor convergence and high residuals across all cases; not suitable for this problem.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201752"/>
                <a:ext cx="10972800" cy="4525963"/>
              </a:xfrm>
              <a:blipFill>
                <a:blip r:embed="rId2"/>
                <a:stretch>
                  <a:fillRect l="-944" t="-2826" r="-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6049"/>
            <a:ext cx="10972800" cy="1143000"/>
          </a:xfrm>
        </p:spPr>
        <p:txBody>
          <a:bodyPr/>
          <a:lstStyle/>
          <a:p>
            <a:r>
              <a:rPr dirty="0"/>
              <a:t>Questions</a:t>
            </a:r>
            <a:r>
              <a:rPr lang="en-IN" dirty="0"/>
              <a:t>! &amp; THANK YOU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1064</Words>
  <Application>Microsoft Office PowerPoint</Application>
  <PresentationFormat>Widescreen</PresentationFormat>
  <Paragraphs>260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 Math</vt:lpstr>
      <vt:lpstr>Office Theme</vt:lpstr>
      <vt:lpstr>Microsoft Excel Worksheet</vt:lpstr>
      <vt:lpstr>Numerical Solution for 1D and 2D Diffusion Equation </vt:lpstr>
      <vt:lpstr>1D Diffusion: Mathematical Formulation</vt:lpstr>
      <vt:lpstr>1D Diffusion: Numerical Method</vt:lpstr>
      <vt:lpstr>1D Diffusion: Numerical Method</vt:lpstr>
      <vt:lpstr>1D Diffusion: Numerical Method</vt:lpstr>
      <vt:lpstr>1D Diffusion: Numerical Method</vt:lpstr>
      <vt:lpstr>1D Diffusion: Numerical Method</vt:lpstr>
      <vt:lpstr>1D Diffusion: Numerical Method</vt:lpstr>
      <vt:lpstr>PowerPoint Presentation</vt:lpstr>
      <vt:lpstr>1D Diffusion: Results &amp; Discussion</vt:lpstr>
      <vt:lpstr>2D Diffusion: Mathematical Formulation</vt:lpstr>
      <vt:lpstr>2D Diffusion: Numerical Method</vt:lpstr>
      <vt:lpstr>2D Diffusion: Numerical Method</vt:lpstr>
      <vt:lpstr>PETSc Workflow </vt:lpstr>
      <vt:lpstr>Solvers and Preconditioners used</vt:lpstr>
      <vt:lpstr>2D Diffusion: Results &amp; Discussion</vt:lpstr>
      <vt:lpstr>2D Diffusion: Results &amp; Discussion</vt:lpstr>
      <vt:lpstr>2D Diffusion: Results &amp; Discussion</vt:lpstr>
      <vt:lpstr>2D Diffusion: Results &amp; Discussion</vt:lpstr>
      <vt:lpstr>2D Diffusion: Results &amp; Discussion</vt:lpstr>
      <vt:lpstr>2D Diffusion: Results &amp; Discussion</vt:lpstr>
      <vt:lpstr>2D Diffusion: Results &amp; Discussion</vt:lpstr>
      <vt:lpstr>Performance Analysis </vt:lpstr>
      <vt:lpstr>Performance Analysis </vt:lpstr>
      <vt:lpstr>Conclusion &amp; Learning Outcomes</vt:lpstr>
      <vt:lpstr>Questions! &amp; 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Gourab Koley</cp:lastModifiedBy>
  <cp:revision>59</cp:revision>
  <dcterms:created xsi:type="dcterms:W3CDTF">2013-01-27T09:14:16Z</dcterms:created>
  <dcterms:modified xsi:type="dcterms:W3CDTF">2025-11-04T06:21:39Z</dcterms:modified>
  <cp:category/>
</cp:coreProperties>
</file>